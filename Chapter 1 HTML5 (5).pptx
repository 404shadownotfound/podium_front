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08" r:id="rId1"/>
    <p:sldMasterId id="2147484120" r:id="rId2"/>
    <p:sldMasterId id="2147484132" r:id="rId3"/>
  </p:sldMasterIdLst>
  <p:notesMasterIdLst>
    <p:notesMasterId r:id="rId61"/>
  </p:notesMasterIdLst>
  <p:sldIdLst>
    <p:sldId id="379" r:id="rId4"/>
    <p:sldId id="271" r:id="rId5"/>
    <p:sldId id="380" r:id="rId6"/>
    <p:sldId id="381" r:id="rId7"/>
    <p:sldId id="385" r:id="rId8"/>
    <p:sldId id="332" r:id="rId9"/>
    <p:sldId id="336" r:id="rId10"/>
    <p:sldId id="392" r:id="rId11"/>
    <p:sldId id="387" r:id="rId12"/>
    <p:sldId id="389" r:id="rId13"/>
    <p:sldId id="393" r:id="rId14"/>
    <p:sldId id="399" r:id="rId15"/>
    <p:sldId id="398" r:id="rId16"/>
    <p:sldId id="390" r:id="rId17"/>
    <p:sldId id="391" r:id="rId18"/>
    <p:sldId id="338" r:id="rId19"/>
    <p:sldId id="337" r:id="rId20"/>
    <p:sldId id="402" r:id="rId21"/>
    <p:sldId id="422" r:id="rId22"/>
    <p:sldId id="339" r:id="rId23"/>
    <p:sldId id="400" r:id="rId24"/>
    <p:sldId id="396" r:id="rId25"/>
    <p:sldId id="416" r:id="rId26"/>
    <p:sldId id="397" r:id="rId27"/>
    <p:sldId id="403" r:id="rId28"/>
    <p:sldId id="344" r:id="rId29"/>
    <p:sldId id="354" r:id="rId30"/>
    <p:sldId id="358" r:id="rId31"/>
    <p:sldId id="415" r:id="rId32"/>
    <p:sldId id="408" r:id="rId33"/>
    <p:sldId id="409" r:id="rId34"/>
    <p:sldId id="414" r:id="rId35"/>
    <p:sldId id="410" r:id="rId36"/>
    <p:sldId id="411" r:id="rId37"/>
    <p:sldId id="412" r:id="rId38"/>
    <p:sldId id="421" r:id="rId39"/>
    <p:sldId id="426" r:id="rId40"/>
    <p:sldId id="424" r:id="rId41"/>
    <p:sldId id="425" r:id="rId42"/>
    <p:sldId id="427" r:id="rId43"/>
    <p:sldId id="361" r:id="rId44"/>
    <p:sldId id="429" r:id="rId45"/>
    <p:sldId id="428" r:id="rId46"/>
    <p:sldId id="423" r:id="rId47"/>
    <p:sldId id="369" r:id="rId48"/>
    <p:sldId id="430" r:id="rId49"/>
    <p:sldId id="371" r:id="rId50"/>
    <p:sldId id="373" r:id="rId51"/>
    <p:sldId id="431" r:id="rId52"/>
    <p:sldId id="372" r:id="rId53"/>
    <p:sldId id="374" r:id="rId54"/>
    <p:sldId id="376" r:id="rId55"/>
    <p:sldId id="375" r:id="rId56"/>
    <p:sldId id="377" r:id="rId57"/>
    <p:sldId id="432" r:id="rId58"/>
    <p:sldId id="378" r:id="rId59"/>
    <p:sldId id="370" r:id="rId60"/>
  </p:sldIdLst>
  <p:sldSz cx="12190413" cy="6859588"/>
  <p:notesSz cx="7086600" cy="93726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  <p15:guide id="3" pos="5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CA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2" autoAdjust="0"/>
    <p:restoredTop sz="89858" autoAdjust="0"/>
  </p:normalViewPr>
  <p:slideViewPr>
    <p:cSldViewPr snapToGrid="0" showGuides="1">
      <p:cViewPr varScale="1">
        <p:scale>
          <a:sx n="64" d="100"/>
          <a:sy n="64" d="100"/>
        </p:scale>
        <p:origin x="864" y="66"/>
      </p:cViewPr>
      <p:guideLst>
        <p:guide orient="horz" pos="816"/>
        <p:guide pos="440"/>
        <p:guide pos="5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225" cy="468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14788" y="0"/>
            <a:ext cx="3070225" cy="468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DB285-72E0-48B2-8E31-017FB36F96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3263"/>
            <a:ext cx="6245225" cy="3514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8025" y="4451350"/>
            <a:ext cx="5670550" cy="421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902700"/>
            <a:ext cx="3070225" cy="468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14788" y="8902700"/>
            <a:ext cx="3070225" cy="468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19CA-3489-47F9-9DFA-CB9DFD5323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7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90337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80673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71010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61347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951683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42020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32356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722693" algn="l" defTabSz="11806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HTML 1.0</a:t>
            </a:r>
            <a:r>
              <a:rPr lang="en-US" dirty="0" smtClean="0"/>
              <a:t>Created by </a:t>
            </a:r>
            <a:r>
              <a:rPr lang="en-US" i="1" dirty="0" smtClean="0"/>
              <a:t>Tim Berners-Lee</a:t>
            </a:r>
            <a:r>
              <a:rPr lang="en-US" dirty="0" smtClean="0"/>
              <a:t>, foundation of the World Wide Web.🌐 </a:t>
            </a:r>
            <a:r>
              <a:rPr lang="en-US" i="1" dirty="0" smtClean="0"/>
              <a:t>(Globe / Web origin)</a:t>
            </a:r>
          </a:p>
          <a:p>
            <a:r>
              <a:rPr lang="en-US" b="1" dirty="0" smtClean="0"/>
              <a:t>1995HTML 2.0 + JavaScript + Internet Explorer 1</a:t>
            </a:r>
            <a:r>
              <a:rPr lang="en-US" dirty="0" smtClean="0"/>
              <a:t>Start of interactive and dynamic web pages.⚙️ </a:t>
            </a:r>
            <a:r>
              <a:rPr lang="en-US" i="1" dirty="0" smtClean="0"/>
              <a:t>(Browser + script evolution)</a:t>
            </a:r>
          </a:p>
          <a:p>
            <a:r>
              <a:rPr lang="en-US" b="1" dirty="0" smtClean="0"/>
              <a:t>1997HTML 3.2</a:t>
            </a:r>
            <a:r>
              <a:rPr lang="en-US" dirty="0" smtClean="0"/>
              <a:t>Introduced tables, applets, and better layout control.📄 </a:t>
            </a:r>
            <a:r>
              <a:rPr lang="en-US" i="1" dirty="0" smtClean="0"/>
              <a:t>(Page layout / structure)</a:t>
            </a:r>
          </a:p>
          <a:p>
            <a:r>
              <a:rPr lang="en-US" b="1" dirty="0" smtClean="0"/>
              <a:t>1999HTML 4.01</a:t>
            </a:r>
            <a:r>
              <a:rPr lang="en-US" dirty="0" smtClean="0"/>
              <a:t>Added CSS support, JavaScript, and accessibility features.🎨 </a:t>
            </a:r>
            <a:r>
              <a:rPr lang="en-US" i="1" dirty="0" smtClean="0"/>
              <a:t>(Style / CSS integration)</a:t>
            </a:r>
          </a:p>
          <a:p>
            <a:r>
              <a:rPr lang="en-US" b="1" dirty="0" smtClean="0"/>
              <a:t>2008HTML5 (Draft)</a:t>
            </a:r>
            <a:r>
              <a:rPr lang="en-US" dirty="0" smtClean="0"/>
              <a:t>Major evolution — multimedia, forms, semantic tags.🎬 </a:t>
            </a:r>
            <a:r>
              <a:rPr lang="en-US" i="1" dirty="0" smtClean="0"/>
              <a:t>(Video &amp; multimedia)</a:t>
            </a:r>
          </a:p>
          <a:p>
            <a:r>
              <a:rPr lang="en-US" b="1" dirty="0" smtClean="0"/>
              <a:t>2014HTML5 (Official)</a:t>
            </a:r>
            <a:r>
              <a:rPr lang="en-US" dirty="0" smtClean="0"/>
              <a:t>Became the standard for modern, responsive web development.🚀 </a:t>
            </a:r>
            <a:r>
              <a:rPr lang="en-US" i="1" dirty="0" smtClean="0"/>
              <a:t>(Modern web / launch)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71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is used for a list of terms and descriptions. Each term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term) and each description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details).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3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1806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This is different from the &lt;title&gt; tag in &lt;head&gt;, which sets the page title shown in the browser tab, not visible in the page content.</a:t>
            </a:r>
          </a:p>
          <a:p>
            <a:pPr marL="0" marR="0" indent="0" algn="l" defTabSz="11806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&lt;h1&gt; = most important, largest &lt;h6&gt; = least important, smallest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is used for a list of terms and descriptions. Each term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term) and each description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details).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is used for a list of terms and descriptions. Each term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term) and each description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details).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is used for a list of terms and descriptions. Each term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term) and each description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details).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is used for a list of terms and descriptions. Each term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term) and each description uses &lt;</a:t>
            </a:r>
            <a:r>
              <a:rPr lang="en-US" sz="16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(description details).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https://www.linkedin.com/pulse/html-layout-elements-modern-web-design-pushpendra-kumar/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19CA-3489-47F9-9DFA-CB9DFD53234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3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64550" y="2961376"/>
            <a:ext cx="11479305" cy="201658"/>
            <a:chOff x="125" y="1865"/>
            <a:chExt cx="5424" cy="127"/>
          </a:xfrm>
        </p:grpSpPr>
        <p:sp>
          <p:nvSpPr>
            <p:cNvPr id="20" name="Google Shape;20;p2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0443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FFCB0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0443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73356" y="4330318"/>
            <a:ext cx="4643709" cy="6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914282" y="685959"/>
            <a:ext cx="10361852" cy="212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04438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465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075127" y="1233776"/>
            <a:ext cx="10971372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43134" algn="l">
              <a:spcBef>
                <a:spcPts val="609"/>
              </a:spcBef>
              <a:spcAft>
                <a:spcPts val="0"/>
              </a:spcAft>
              <a:buSzPts val="1980"/>
              <a:buChar char="▪"/>
              <a:defRPr/>
            </a:lvl1pPr>
            <a:lvl2pPr marL="885505" lvl="1" indent="-343134" algn="l">
              <a:spcBef>
                <a:spcPts val="609"/>
              </a:spcBef>
              <a:spcAft>
                <a:spcPts val="0"/>
              </a:spcAft>
              <a:buSzPts val="1980"/>
              <a:buChar char="•"/>
              <a:defRPr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Char char="–"/>
              <a:defRPr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896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1075126" y="1233776"/>
            <a:ext cx="5384099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410776" algn="l">
              <a:spcBef>
                <a:spcPts val="949"/>
              </a:spcBef>
              <a:spcAft>
                <a:spcPts val="0"/>
              </a:spcAft>
              <a:buSzPts val="3080"/>
              <a:buChar char="▪"/>
              <a:defRPr sz="2700"/>
            </a:lvl1pPr>
            <a:lvl2pPr marL="885505" lvl="1" indent="-383719" algn="l">
              <a:spcBef>
                <a:spcPts val="813"/>
              </a:spcBef>
              <a:spcAft>
                <a:spcPts val="0"/>
              </a:spcAft>
              <a:buSzPts val="2640"/>
              <a:buChar char="•"/>
              <a:defRPr sz="2300"/>
            </a:lvl2pPr>
            <a:lvl3pPr marL="1328257" lvl="2" indent="-313617" algn="l">
              <a:spcBef>
                <a:spcPts val="678"/>
              </a:spcBef>
              <a:spcAft>
                <a:spcPts val="0"/>
              </a:spcAft>
              <a:buSzPts val="1500"/>
              <a:buChar char="4"/>
              <a:defRPr sz="1900"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–"/>
              <a:defRPr sz="1700"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662399" y="1233776"/>
            <a:ext cx="5384099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410776" algn="l">
              <a:spcBef>
                <a:spcPts val="949"/>
              </a:spcBef>
              <a:spcAft>
                <a:spcPts val="0"/>
              </a:spcAft>
              <a:buSzPts val="3080"/>
              <a:buChar char="▪"/>
              <a:defRPr sz="2700"/>
            </a:lvl1pPr>
            <a:lvl2pPr marL="885505" lvl="1" indent="-383719" algn="l">
              <a:spcBef>
                <a:spcPts val="813"/>
              </a:spcBef>
              <a:spcAft>
                <a:spcPts val="0"/>
              </a:spcAft>
              <a:buSzPts val="2640"/>
              <a:buChar char="•"/>
              <a:defRPr sz="2300"/>
            </a:lvl2pPr>
            <a:lvl3pPr marL="1328257" lvl="2" indent="-313617" algn="l">
              <a:spcBef>
                <a:spcPts val="678"/>
              </a:spcBef>
              <a:spcAft>
                <a:spcPts val="0"/>
              </a:spcAft>
              <a:buSzPts val="1500"/>
              <a:buChar char="4"/>
              <a:defRPr sz="1900"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–"/>
              <a:defRPr sz="1700"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830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L="442752" lvl="0" indent="-221376" algn="l">
              <a:spcBef>
                <a:spcPts val="813"/>
              </a:spcBef>
              <a:spcAft>
                <a:spcPts val="0"/>
              </a:spcAft>
              <a:buSzPts val="2640"/>
              <a:buNone/>
              <a:defRPr sz="2300" b="1"/>
            </a:lvl1pPr>
            <a:lvl2pPr marL="885505" lvl="1" indent="-221376" algn="l">
              <a:spcBef>
                <a:spcPts val="678"/>
              </a:spcBef>
              <a:spcAft>
                <a:spcPts val="0"/>
              </a:spcAft>
              <a:buSzPts val="2200"/>
              <a:buNone/>
              <a:defRPr sz="1900" b="1"/>
            </a:lvl2pPr>
            <a:lvl3pPr marL="1328257" lvl="2" indent="-221376" algn="l">
              <a:spcBef>
                <a:spcPts val="609"/>
              </a:spcBef>
              <a:spcAft>
                <a:spcPts val="0"/>
              </a:spcAft>
              <a:buSzPts val="1350"/>
              <a:buNone/>
              <a:defRPr sz="1700" b="1"/>
            </a:lvl3pPr>
            <a:lvl4pPr marL="1771010" lvl="3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4pPr>
            <a:lvl5pPr marL="2213762" lvl="4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5pPr>
            <a:lvl6pPr marL="2656515" lvl="5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6pPr>
            <a:lvl7pPr marL="3099267" lvl="6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7pPr>
            <a:lvl8pPr marL="3542020" lvl="7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8pPr>
            <a:lvl9pPr marL="3984772" lvl="8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09521" y="2175379"/>
            <a:ext cx="5386216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83719" algn="l">
              <a:spcBef>
                <a:spcPts val="813"/>
              </a:spcBef>
              <a:spcAft>
                <a:spcPts val="0"/>
              </a:spcAft>
              <a:buSzPts val="2640"/>
              <a:buChar char="▪"/>
              <a:defRPr sz="2300"/>
            </a:lvl1pPr>
            <a:lvl2pPr marL="885505" lvl="1" indent="-356662" algn="l">
              <a:spcBef>
                <a:spcPts val="678"/>
              </a:spcBef>
              <a:spcAft>
                <a:spcPts val="0"/>
              </a:spcAft>
              <a:buSzPts val="2200"/>
              <a:buChar char="•"/>
              <a:defRPr sz="1900"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 sz="1700"/>
            </a:lvl3pPr>
            <a:lvl4pPr marL="1771010" lvl="3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–"/>
              <a:defRPr sz="1500"/>
            </a:lvl4pPr>
            <a:lvl5pPr marL="2213762" lvl="4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5pPr>
            <a:lvl6pPr marL="2656515" lvl="5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6pPr>
            <a:lvl7pPr marL="3099267" lvl="6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7pPr>
            <a:lvl8pPr marL="3542020" lvl="7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8pPr>
            <a:lvl9pPr marL="3984772" lvl="8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3"/>
          </p:nvPr>
        </p:nvSpPr>
        <p:spPr>
          <a:xfrm>
            <a:off x="6192566" y="1535469"/>
            <a:ext cx="5388332" cy="63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L="442752" lvl="0" indent="-221376" algn="l">
              <a:spcBef>
                <a:spcPts val="813"/>
              </a:spcBef>
              <a:spcAft>
                <a:spcPts val="0"/>
              </a:spcAft>
              <a:buSzPts val="2640"/>
              <a:buNone/>
              <a:defRPr sz="2300" b="1"/>
            </a:lvl1pPr>
            <a:lvl2pPr marL="885505" lvl="1" indent="-221376" algn="l">
              <a:spcBef>
                <a:spcPts val="678"/>
              </a:spcBef>
              <a:spcAft>
                <a:spcPts val="0"/>
              </a:spcAft>
              <a:buSzPts val="2200"/>
              <a:buNone/>
              <a:defRPr sz="1900" b="1"/>
            </a:lvl2pPr>
            <a:lvl3pPr marL="1328257" lvl="2" indent="-221376" algn="l">
              <a:spcBef>
                <a:spcPts val="609"/>
              </a:spcBef>
              <a:spcAft>
                <a:spcPts val="0"/>
              </a:spcAft>
              <a:buSzPts val="1350"/>
              <a:buNone/>
              <a:defRPr sz="1700" b="1"/>
            </a:lvl3pPr>
            <a:lvl4pPr marL="1771010" lvl="3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4pPr>
            <a:lvl5pPr marL="2213762" lvl="4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5pPr>
            <a:lvl6pPr marL="2656515" lvl="5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6pPr>
            <a:lvl7pPr marL="3099267" lvl="6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7pPr>
            <a:lvl8pPr marL="3542020" lvl="7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8pPr>
            <a:lvl9pPr marL="3984772" lvl="8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6192566" y="2175379"/>
            <a:ext cx="5388332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83719" algn="l">
              <a:spcBef>
                <a:spcPts val="813"/>
              </a:spcBef>
              <a:spcAft>
                <a:spcPts val="0"/>
              </a:spcAft>
              <a:buSzPts val="2640"/>
              <a:buChar char="▪"/>
              <a:defRPr sz="2300"/>
            </a:lvl1pPr>
            <a:lvl2pPr marL="885505" lvl="1" indent="-356662" algn="l">
              <a:spcBef>
                <a:spcPts val="678"/>
              </a:spcBef>
              <a:spcAft>
                <a:spcPts val="0"/>
              </a:spcAft>
              <a:buSzPts val="2200"/>
              <a:buChar char="•"/>
              <a:defRPr sz="1900"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 sz="1700"/>
            </a:lvl3pPr>
            <a:lvl4pPr marL="1771010" lvl="3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–"/>
              <a:defRPr sz="1500"/>
            </a:lvl4pPr>
            <a:lvl5pPr marL="2213762" lvl="4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5pPr>
            <a:lvl6pPr marL="2656515" lvl="5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6pPr>
            <a:lvl7pPr marL="3099267" lvl="6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7pPr>
            <a:lvl8pPr marL="3542020" lvl="7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8pPr>
            <a:lvl9pPr marL="3984772" lvl="8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251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609526" y="273112"/>
            <a:ext cx="4010562" cy="116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4766113" y="273116"/>
            <a:ext cx="6814780" cy="585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437832" algn="l">
              <a:spcBef>
                <a:spcPts val="1085"/>
              </a:spcBef>
              <a:spcAft>
                <a:spcPts val="0"/>
              </a:spcAft>
              <a:buSzPts val="3520"/>
              <a:buChar char="▪"/>
              <a:defRPr sz="3100"/>
            </a:lvl1pPr>
            <a:lvl2pPr marL="885505" lvl="1" indent="-410776" algn="l">
              <a:spcBef>
                <a:spcPts val="949"/>
              </a:spcBef>
              <a:spcAft>
                <a:spcPts val="0"/>
              </a:spcAft>
              <a:buSzPts val="3080"/>
              <a:buFont typeface="Noto Sans Symbols"/>
              <a:buChar char="▪"/>
              <a:defRPr sz="2700"/>
            </a:lvl2pPr>
            <a:lvl3pPr marL="1328257" lvl="2" indent="-332064" algn="l">
              <a:spcBef>
                <a:spcPts val="813"/>
              </a:spcBef>
              <a:spcAft>
                <a:spcPts val="0"/>
              </a:spcAft>
              <a:buSzPts val="1800"/>
              <a:buChar char="4"/>
              <a:defRPr sz="2300"/>
            </a:lvl3pPr>
            <a:lvl4pPr marL="1771010" lvl="3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–"/>
              <a:defRPr sz="1900"/>
            </a:lvl4pPr>
            <a:lvl5pPr marL="2213762" lvl="4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5pPr>
            <a:lvl6pPr marL="2656515" lvl="5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6pPr>
            <a:lvl7pPr marL="3099267" lvl="6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7pPr>
            <a:lvl8pPr marL="3542020" lvl="7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8pPr>
            <a:lvl9pPr marL="3984772" lvl="8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609526" y="1435436"/>
            <a:ext cx="4010562" cy="469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221376" algn="l">
              <a:spcBef>
                <a:spcPts val="475"/>
              </a:spcBef>
              <a:spcAft>
                <a:spcPts val="0"/>
              </a:spcAft>
              <a:buSzPts val="1540"/>
              <a:buNone/>
              <a:defRPr sz="1400"/>
            </a:lvl1pPr>
            <a:lvl2pPr marL="885505" lvl="1" indent="-221376" algn="l">
              <a:spcBef>
                <a:spcPts val="407"/>
              </a:spcBef>
              <a:spcAft>
                <a:spcPts val="0"/>
              </a:spcAft>
              <a:buSzPts val="1320"/>
              <a:buNone/>
              <a:defRPr sz="1200"/>
            </a:lvl2pPr>
            <a:lvl3pPr marL="1328257" lvl="2" indent="-221376" algn="l">
              <a:spcBef>
                <a:spcPts val="340"/>
              </a:spcBef>
              <a:spcAft>
                <a:spcPts val="0"/>
              </a:spcAft>
              <a:buSzPts val="750"/>
              <a:buNone/>
              <a:defRPr sz="1000"/>
            </a:lvl3pPr>
            <a:lvl4pPr marL="1771010" lvl="3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marL="2213762" lvl="4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marL="2656515" lvl="5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marL="3099267" lvl="6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marL="3542020" lvl="7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marL="3984772" lvl="8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831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2389406" y="4801711"/>
            <a:ext cx="7314248" cy="56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pic" idx="2"/>
          </p:nvPr>
        </p:nvSpPr>
        <p:spPr>
          <a:xfrm>
            <a:off x="2389406" y="612918"/>
            <a:ext cx="7314248" cy="4115753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2389406" y="5368582"/>
            <a:ext cx="7314248" cy="8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221376" algn="l">
              <a:spcBef>
                <a:spcPts val="475"/>
              </a:spcBef>
              <a:spcAft>
                <a:spcPts val="0"/>
              </a:spcAft>
              <a:buSzPts val="1540"/>
              <a:buNone/>
              <a:defRPr sz="1400"/>
            </a:lvl1pPr>
            <a:lvl2pPr marL="885505" lvl="1" indent="-221376" algn="l">
              <a:spcBef>
                <a:spcPts val="407"/>
              </a:spcBef>
              <a:spcAft>
                <a:spcPts val="0"/>
              </a:spcAft>
              <a:buSzPts val="1320"/>
              <a:buNone/>
              <a:defRPr sz="1200"/>
            </a:lvl2pPr>
            <a:lvl3pPr marL="1328257" lvl="2" indent="-221376" algn="l">
              <a:spcBef>
                <a:spcPts val="340"/>
              </a:spcBef>
              <a:spcAft>
                <a:spcPts val="0"/>
              </a:spcAft>
              <a:buSzPts val="750"/>
              <a:buNone/>
              <a:defRPr sz="1000"/>
            </a:lvl3pPr>
            <a:lvl4pPr marL="1771010" lvl="3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marL="2213762" lvl="4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marL="2656515" lvl="5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marL="3099267" lvl="6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marL="3542020" lvl="7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marL="3984772" lvl="8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674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4294927" y="-1986026"/>
            <a:ext cx="4531774" cy="109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43134" algn="l">
              <a:spcBef>
                <a:spcPts val="609"/>
              </a:spcBef>
              <a:spcAft>
                <a:spcPts val="0"/>
              </a:spcAft>
              <a:buSzPts val="1980"/>
              <a:buChar char="▪"/>
              <a:defRPr/>
            </a:lvl1pPr>
            <a:lvl2pPr marL="885505" lvl="1" indent="-343134" algn="l">
              <a:spcBef>
                <a:spcPts val="609"/>
              </a:spcBef>
              <a:spcAft>
                <a:spcPts val="0"/>
              </a:spcAft>
              <a:buSzPts val="1980"/>
              <a:buChar char="•"/>
              <a:defRPr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Char char="–"/>
              <a:defRPr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030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 rot="5400000">
            <a:off x="7873042" y="1592092"/>
            <a:ext cx="5487670" cy="285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 rot="5400000">
            <a:off x="2052966" y="-1165568"/>
            <a:ext cx="5487670" cy="837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43134" algn="l">
              <a:spcBef>
                <a:spcPts val="609"/>
              </a:spcBef>
              <a:spcAft>
                <a:spcPts val="0"/>
              </a:spcAft>
              <a:buSzPts val="1980"/>
              <a:buChar char="▪"/>
              <a:defRPr/>
            </a:lvl1pPr>
            <a:lvl2pPr marL="885505" lvl="1" indent="-343134" algn="l">
              <a:spcBef>
                <a:spcPts val="609"/>
              </a:spcBef>
              <a:spcAft>
                <a:spcPts val="0"/>
              </a:spcAft>
              <a:buSzPts val="1980"/>
              <a:buChar char="•"/>
              <a:defRPr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Char char="–"/>
              <a:defRPr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384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37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Slide" preserve="1">
  <p:cSld name="General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686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 preserve="1">
  <p:cSld name="Titre et contenu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85505" lvl="1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28257" lvl="2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71010" lvl="3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13762" lvl="4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656515" lvl="5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9267" lvl="6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42020" lvl="7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84772" lvl="8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35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 preserve="1">
  <p:cSld name="Titre de sec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962959" y="4407923"/>
            <a:ext cx="10361852" cy="136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9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962959" y="2907386"/>
            <a:ext cx="10361852" cy="150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rmAutofit/>
          </a:bodyPr>
          <a:lstStyle>
            <a:lvl1pPr marL="442752" lvl="0" indent="-221376" algn="l">
              <a:spcBef>
                <a:spcPts val="38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900">
                <a:solidFill>
                  <a:srgbClr val="888888"/>
                </a:solidFill>
              </a:defRPr>
            </a:lvl1pPr>
            <a:lvl2pPr marL="885505" lvl="1" indent="-221376" algn="l">
              <a:spcBef>
                <a:spcPts val="349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700">
                <a:solidFill>
                  <a:srgbClr val="888888"/>
                </a:solidFill>
              </a:defRPr>
            </a:lvl2pPr>
            <a:lvl3pPr marL="1328257" lvl="2" indent="-221376" algn="l">
              <a:spcBef>
                <a:spcPts val="31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500">
                <a:solidFill>
                  <a:srgbClr val="888888"/>
                </a:solidFill>
              </a:defRPr>
            </a:lvl3pPr>
            <a:lvl4pPr marL="1771010" lvl="3" indent="-221376" algn="l">
              <a:spcBef>
                <a:spcPts val="27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13762" lvl="4" indent="-221376" algn="l">
              <a:spcBef>
                <a:spcPts val="27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656515" lvl="5" indent="-221376" algn="l">
              <a:spcBef>
                <a:spcPts val="27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099267" lvl="6" indent="-221376" algn="l">
              <a:spcBef>
                <a:spcPts val="27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542020" lvl="7" indent="-221376" algn="l">
              <a:spcBef>
                <a:spcPts val="27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3984772" lvl="8" indent="-221376" algn="l">
              <a:spcBef>
                <a:spcPts val="27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140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 preserve="1">
  <p:cSld name="Deux contenu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609521" y="1600573"/>
            <a:ext cx="5384099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93558" algn="l"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700"/>
            </a:lvl1pPr>
            <a:lvl2pPr marL="885505" lvl="1" indent="-368960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300"/>
            </a:lvl2pPr>
            <a:lvl3pPr marL="1328257" lvl="2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900"/>
            </a:lvl3pPr>
            <a:lvl4pPr marL="1771010" lvl="3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700"/>
            </a:lvl4pPr>
            <a:lvl5pPr marL="2213762" lvl="4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700"/>
            </a:lvl5pPr>
            <a:lvl6pPr marL="2656515" lvl="5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6pPr>
            <a:lvl7pPr marL="3099267" lvl="6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7pPr>
            <a:lvl8pPr marL="3542020" lvl="7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8pPr>
            <a:lvl9pPr marL="3984772" lvl="8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6196793" y="1600573"/>
            <a:ext cx="5384099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93558" algn="l"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700"/>
            </a:lvl1pPr>
            <a:lvl2pPr marL="885505" lvl="1" indent="-368960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300"/>
            </a:lvl2pPr>
            <a:lvl3pPr marL="1328257" lvl="2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900"/>
            </a:lvl3pPr>
            <a:lvl4pPr marL="1771010" lvl="3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700"/>
            </a:lvl4pPr>
            <a:lvl5pPr marL="2213762" lvl="4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700"/>
            </a:lvl5pPr>
            <a:lvl6pPr marL="2656515" lvl="5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6pPr>
            <a:lvl7pPr marL="3099267" lvl="6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7pPr>
            <a:lvl8pPr marL="3542020" lvl="7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8pPr>
            <a:lvl9pPr marL="3984772" lvl="8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99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 preserve="1">
  <p:cSld name="Comparais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rmAutofit/>
          </a:bodyPr>
          <a:lstStyle>
            <a:lvl1pPr marL="442752" lvl="0" indent="-221376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 b="1"/>
            </a:lvl1pPr>
            <a:lvl2pPr marL="885505" lvl="1" indent="-221376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900" b="1"/>
            </a:lvl2pPr>
            <a:lvl3pPr marL="1328257" lvl="2" indent="-221376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00" b="1"/>
            </a:lvl3pPr>
            <a:lvl4pPr marL="1771010" lvl="3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4pPr>
            <a:lvl5pPr marL="2213762" lvl="4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5pPr>
            <a:lvl6pPr marL="2656515" lvl="5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6pPr>
            <a:lvl7pPr marL="3099267" lvl="6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7pPr>
            <a:lvl8pPr marL="3542020" lvl="7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8pPr>
            <a:lvl9pPr marL="3984772" lvl="8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609521" y="2175379"/>
            <a:ext cx="5386216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68960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300"/>
            </a:lvl1pPr>
            <a:lvl2pPr marL="885505" lvl="1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900"/>
            </a:lvl2pPr>
            <a:lvl3pPr marL="1328257" lvl="2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3pPr>
            <a:lvl4pPr marL="1771010" lvl="3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500"/>
            </a:lvl4pPr>
            <a:lvl5pPr marL="2213762" lvl="4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500"/>
            </a:lvl5pPr>
            <a:lvl6pPr marL="2656515" lvl="5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6pPr>
            <a:lvl7pPr marL="3099267" lvl="6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7pPr>
            <a:lvl8pPr marL="3542020" lvl="7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8pPr>
            <a:lvl9pPr marL="3984772" lvl="8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6192566" y="1535469"/>
            <a:ext cx="5388332" cy="63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rmAutofit/>
          </a:bodyPr>
          <a:lstStyle>
            <a:lvl1pPr marL="442752" lvl="0" indent="-221376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 b="1"/>
            </a:lvl1pPr>
            <a:lvl2pPr marL="885505" lvl="1" indent="-221376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900" b="1"/>
            </a:lvl2pPr>
            <a:lvl3pPr marL="1328257" lvl="2" indent="-221376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00" b="1"/>
            </a:lvl3pPr>
            <a:lvl4pPr marL="1771010" lvl="3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4pPr>
            <a:lvl5pPr marL="2213762" lvl="4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5pPr>
            <a:lvl6pPr marL="2656515" lvl="5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6pPr>
            <a:lvl7pPr marL="3099267" lvl="6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7pPr>
            <a:lvl8pPr marL="3542020" lvl="7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8pPr>
            <a:lvl9pPr marL="3984772" lvl="8" indent="-22137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6192566" y="2175379"/>
            <a:ext cx="5388332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68960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300"/>
            </a:lvl1pPr>
            <a:lvl2pPr marL="885505" lvl="1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900"/>
            </a:lvl2pPr>
            <a:lvl3pPr marL="1328257" lvl="2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700"/>
            </a:lvl3pPr>
            <a:lvl4pPr marL="1771010" lvl="3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500"/>
            </a:lvl4pPr>
            <a:lvl5pPr marL="2213762" lvl="4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500"/>
            </a:lvl5pPr>
            <a:lvl6pPr marL="2656515" lvl="5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6pPr>
            <a:lvl7pPr marL="3099267" lvl="6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7pPr>
            <a:lvl8pPr marL="3542020" lvl="7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8pPr>
            <a:lvl9pPr marL="3984772" lvl="8" indent="-319766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237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 preserve="1">
  <p:cSld name="Titre seul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805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 preserve="1">
  <p:cSld name="V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81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 preserve="1">
  <p:cSld name="Contenu avec légen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609526" y="273112"/>
            <a:ext cx="4010562" cy="116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9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4766113" y="273116"/>
            <a:ext cx="6814780" cy="585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418155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100"/>
            </a:lvl1pPr>
            <a:lvl2pPr marL="885505" lvl="1" indent="-393558" algn="l"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700"/>
            </a:lvl2pPr>
            <a:lvl3pPr marL="1328257" lvl="2" indent="-368960" algn="l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300"/>
            </a:lvl3pPr>
            <a:lvl4pPr marL="1771010" lvl="3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900"/>
            </a:lvl4pPr>
            <a:lvl5pPr marL="2213762" lvl="4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900"/>
            </a:lvl5pPr>
            <a:lvl6pPr marL="2656515" lvl="5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900"/>
            </a:lvl6pPr>
            <a:lvl7pPr marL="3099267" lvl="6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900"/>
            </a:lvl7pPr>
            <a:lvl8pPr marL="3542020" lvl="7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900"/>
            </a:lvl8pPr>
            <a:lvl9pPr marL="3984772" lvl="8" indent="-344363" algn="l"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609526" y="1435436"/>
            <a:ext cx="4010562" cy="469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221376" algn="l">
              <a:spcBef>
                <a:spcPts val="27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885505" lvl="1" indent="-221376" algn="l">
              <a:spcBef>
                <a:spcPts val="23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28257" lvl="2" indent="-221376" algn="l">
              <a:spcBef>
                <a:spcPts val="19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771010" lvl="3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13762" lvl="4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656515" lvl="5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099267" lvl="6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542020" lvl="7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3984772" lvl="8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062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 preserve="1">
  <p:cSld name="Image avec légen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2389406" y="4801711"/>
            <a:ext cx="7314248" cy="56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9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2389406" y="612918"/>
            <a:ext cx="7314248" cy="4115753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2389406" y="5368582"/>
            <a:ext cx="7314248" cy="8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221376" algn="l">
              <a:spcBef>
                <a:spcPts val="27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885505" lvl="1" indent="-221376" algn="l">
              <a:spcBef>
                <a:spcPts val="232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28257" lvl="2" indent="-221376" algn="l">
              <a:spcBef>
                <a:spcPts val="19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771010" lvl="3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13762" lvl="4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656515" lvl="5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099267" lvl="6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542020" lvl="7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3984772" lvl="8" indent="-221376" algn="l">
              <a:spcBef>
                <a:spcPts val="174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716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 preserve="1">
  <p:cSld name="Titre et texte vertical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3831704" y="-1621609"/>
            <a:ext cx="4527011" cy="109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85505" lvl="1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28257" lvl="2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71010" lvl="3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13762" lvl="4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656515" lvl="5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9267" lvl="6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42020" lvl="7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84772" lvl="8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255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 preserve="1">
  <p:cSld name="Titre vertical et text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7283035" y="1829721"/>
            <a:ext cx="5852880" cy="274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1695762" y="-811536"/>
            <a:ext cx="5852880" cy="802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42752" lvl="0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885505" lvl="1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28257" lvl="2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71010" lvl="3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13762" lvl="4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656515" lvl="5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9267" lvl="6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42020" lvl="7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84772" lvl="8" indent="-332064" algn="l">
              <a:spcBef>
                <a:spcPts val="34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2778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64550" y="2961376"/>
            <a:ext cx="11479305" cy="201658"/>
            <a:chOff x="125" y="1865"/>
            <a:chExt cx="5424" cy="127"/>
          </a:xfrm>
        </p:grpSpPr>
        <p:sp>
          <p:nvSpPr>
            <p:cNvPr id="20" name="Google Shape;20;p2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0443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FFCB0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0443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73356" y="4330318"/>
            <a:ext cx="4643709" cy="6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914282" y="685959"/>
            <a:ext cx="10361852" cy="212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rgbClr val="04438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9631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962959" y="4407923"/>
            <a:ext cx="10361852" cy="136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962959" y="2907386"/>
            <a:ext cx="10361852" cy="150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L="442752" lvl="0" indent="-221376" algn="l">
              <a:spcBef>
                <a:spcPts val="678"/>
              </a:spcBef>
              <a:spcAft>
                <a:spcPts val="0"/>
              </a:spcAft>
              <a:buSzPts val="2200"/>
              <a:buNone/>
              <a:defRPr sz="1900"/>
            </a:lvl1pPr>
            <a:lvl2pPr marL="885505" lvl="1" indent="-221376" algn="l">
              <a:spcBef>
                <a:spcPts val="609"/>
              </a:spcBef>
              <a:spcAft>
                <a:spcPts val="0"/>
              </a:spcAft>
              <a:buSzPts val="1980"/>
              <a:buNone/>
              <a:defRPr sz="1700"/>
            </a:lvl2pPr>
            <a:lvl3pPr marL="1328257" lvl="2" indent="-221376" algn="l">
              <a:spcBef>
                <a:spcPts val="542"/>
              </a:spcBef>
              <a:spcAft>
                <a:spcPts val="0"/>
              </a:spcAft>
              <a:buSzPts val="1200"/>
              <a:buNone/>
              <a:defRPr sz="1500"/>
            </a:lvl3pPr>
            <a:lvl4pPr marL="1771010" lvl="3" indent="-221376" algn="l">
              <a:spcBef>
                <a:spcPts val="475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marL="2213762" lvl="4" indent="-221376" algn="l">
              <a:spcBef>
                <a:spcPts val="475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marL="2656515" lvl="5" indent="-221376" algn="l">
              <a:spcBef>
                <a:spcPts val="475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marL="3099267" lvl="6" indent="-221376" algn="l">
              <a:spcBef>
                <a:spcPts val="475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marL="3542020" lvl="7" indent="-221376" algn="l">
              <a:spcBef>
                <a:spcPts val="475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marL="3984772" lvl="8" indent="-221376" algn="l">
              <a:spcBef>
                <a:spcPts val="475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95971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075127" y="1233776"/>
            <a:ext cx="10971372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43134" algn="l">
              <a:spcBef>
                <a:spcPts val="609"/>
              </a:spcBef>
              <a:spcAft>
                <a:spcPts val="0"/>
              </a:spcAft>
              <a:buSzPts val="1980"/>
              <a:buChar char="▪"/>
              <a:defRPr/>
            </a:lvl1pPr>
            <a:lvl2pPr marL="885505" lvl="1" indent="-343134" algn="l">
              <a:spcBef>
                <a:spcPts val="609"/>
              </a:spcBef>
              <a:spcAft>
                <a:spcPts val="0"/>
              </a:spcAft>
              <a:buSzPts val="1980"/>
              <a:buChar char="•"/>
              <a:defRPr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Char char="–"/>
              <a:defRPr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13708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1075126" y="1233776"/>
            <a:ext cx="5384099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410776" algn="l">
              <a:spcBef>
                <a:spcPts val="949"/>
              </a:spcBef>
              <a:spcAft>
                <a:spcPts val="0"/>
              </a:spcAft>
              <a:buSzPts val="3080"/>
              <a:buChar char="▪"/>
              <a:defRPr sz="2700"/>
            </a:lvl1pPr>
            <a:lvl2pPr marL="885505" lvl="1" indent="-383719" algn="l">
              <a:spcBef>
                <a:spcPts val="813"/>
              </a:spcBef>
              <a:spcAft>
                <a:spcPts val="0"/>
              </a:spcAft>
              <a:buSzPts val="2640"/>
              <a:buChar char="•"/>
              <a:defRPr sz="2300"/>
            </a:lvl2pPr>
            <a:lvl3pPr marL="1328257" lvl="2" indent="-313617" algn="l">
              <a:spcBef>
                <a:spcPts val="678"/>
              </a:spcBef>
              <a:spcAft>
                <a:spcPts val="0"/>
              </a:spcAft>
              <a:buSzPts val="1500"/>
              <a:buChar char="4"/>
              <a:defRPr sz="1900"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–"/>
              <a:defRPr sz="1700"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662399" y="1233776"/>
            <a:ext cx="5384099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410776" algn="l">
              <a:spcBef>
                <a:spcPts val="949"/>
              </a:spcBef>
              <a:spcAft>
                <a:spcPts val="0"/>
              </a:spcAft>
              <a:buSzPts val="3080"/>
              <a:buChar char="▪"/>
              <a:defRPr sz="2700"/>
            </a:lvl1pPr>
            <a:lvl2pPr marL="885505" lvl="1" indent="-383719" algn="l">
              <a:spcBef>
                <a:spcPts val="813"/>
              </a:spcBef>
              <a:spcAft>
                <a:spcPts val="0"/>
              </a:spcAft>
              <a:buSzPts val="2640"/>
              <a:buChar char="•"/>
              <a:defRPr sz="2300"/>
            </a:lvl2pPr>
            <a:lvl3pPr marL="1328257" lvl="2" indent="-313617" algn="l">
              <a:spcBef>
                <a:spcPts val="678"/>
              </a:spcBef>
              <a:spcAft>
                <a:spcPts val="0"/>
              </a:spcAft>
              <a:buSzPts val="1500"/>
              <a:buChar char="4"/>
              <a:defRPr sz="1900"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–"/>
              <a:defRPr sz="1700"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Font typeface="Helvetica Neue"/>
              <a:buChar char="»"/>
              <a:defRPr sz="17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543214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L="442752" lvl="0" indent="-221376" algn="l">
              <a:spcBef>
                <a:spcPts val="813"/>
              </a:spcBef>
              <a:spcAft>
                <a:spcPts val="0"/>
              </a:spcAft>
              <a:buSzPts val="2640"/>
              <a:buNone/>
              <a:defRPr sz="2300" b="1"/>
            </a:lvl1pPr>
            <a:lvl2pPr marL="885505" lvl="1" indent="-221376" algn="l">
              <a:spcBef>
                <a:spcPts val="678"/>
              </a:spcBef>
              <a:spcAft>
                <a:spcPts val="0"/>
              </a:spcAft>
              <a:buSzPts val="2200"/>
              <a:buNone/>
              <a:defRPr sz="1900" b="1"/>
            </a:lvl2pPr>
            <a:lvl3pPr marL="1328257" lvl="2" indent="-221376" algn="l">
              <a:spcBef>
                <a:spcPts val="609"/>
              </a:spcBef>
              <a:spcAft>
                <a:spcPts val="0"/>
              </a:spcAft>
              <a:buSzPts val="1350"/>
              <a:buNone/>
              <a:defRPr sz="1700" b="1"/>
            </a:lvl3pPr>
            <a:lvl4pPr marL="1771010" lvl="3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4pPr>
            <a:lvl5pPr marL="2213762" lvl="4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5pPr>
            <a:lvl6pPr marL="2656515" lvl="5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6pPr>
            <a:lvl7pPr marL="3099267" lvl="6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7pPr>
            <a:lvl8pPr marL="3542020" lvl="7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8pPr>
            <a:lvl9pPr marL="3984772" lvl="8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09521" y="2175379"/>
            <a:ext cx="5386216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83719" algn="l">
              <a:spcBef>
                <a:spcPts val="813"/>
              </a:spcBef>
              <a:spcAft>
                <a:spcPts val="0"/>
              </a:spcAft>
              <a:buSzPts val="2640"/>
              <a:buChar char="▪"/>
              <a:defRPr sz="2300"/>
            </a:lvl1pPr>
            <a:lvl2pPr marL="885505" lvl="1" indent="-356662" algn="l">
              <a:spcBef>
                <a:spcPts val="678"/>
              </a:spcBef>
              <a:spcAft>
                <a:spcPts val="0"/>
              </a:spcAft>
              <a:buSzPts val="2200"/>
              <a:buChar char="•"/>
              <a:defRPr sz="1900"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 sz="1700"/>
            </a:lvl3pPr>
            <a:lvl4pPr marL="1771010" lvl="3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–"/>
              <a:defRPr sz="1500"/>
            </a:lvl4pPr>
            <a:lvl5pPr marL="2213762" lvl="4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5pPr>
            <a:lvl6pPr marL="2656515" lvl="5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6pPr>
            <a:lvl7pPr marL="3099267" lvl="6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7pPr>
            <a:lvl8pPr marL="3542020" lvl="7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8pPr>
            <a:lvl9pPr marL="3984772" lvl="8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3"/>
          </p:nvPr>
        </p:nvSpPr>
        <p:spPr>
          <a:xfrm>
            <a:off x="6192566" y="1535469"/>
            <a:ext cx="5388332" cy="63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L="442752" lvl="0" indent="-221376" algn="l">
              <a:spcBef>
                <a:spcPts val="813"/>
              </a:spcBef>
              <a:spcAft>
                <a:spcPts val="0"/>
              </a:spcAft>
              <a:buSzPts val="2640"/>
              <a:buNone/>
              <a:defRPr sz="2300" b="1"/>
            </a:lvl1pPr>
            <a:lvl2pPr marL="885505" lvl="1" indent="-221376" algn="l">
              <a:spcBef>
                <a:spcPts val="678"/>
              </a:spcBef>
              <a:spcAft>
                <a:spcPts val="0"/>
              </a:spcAft>
              <a:buSzPts val="2200"/>
              <a:buNone/>
              <a:defRPr sz="1900" b="1"/>
            </a:lvl2pPr>
            <a:lvl3pPr marL="1328257" lvl="2" indent="-221376" algn="l">
              <a:spcBef>
                <a:spcPts val="609"/>
              </a:spcBef>
              <a:spcAft>
                <a:spcPts val="0"/>
              </a:spcAft>
              <a:buSzPts val="1350"/>
              <a:buNone/>
              <a:defRPr sz="1700" b="1"/>
            </a:lvl3pPr>
            <a:lvl4pPr marL="1771010" lvl="3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4pPr>
            <a:lvl5pPr marL="2213762" lvl="4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5pPr>
            <a:lvl6pPr marL="2656515" lvl="5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6pPr>
            <a:lvl7pPr marL="3099267" lvl="6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7pPr>
            <a:lvl8pPr marL="3542020" lvl="7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8pPr>
            <a:lvl9pPr marL="3984772" lvl="8" indent="-221376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None/>
              <a:defRPr sz="15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6192566" y="2175379"/>
            <a:ext cx="5388332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83719" algn="l">
              <a:spcBef>
                <a:spcPts val="813"/>
              </a:spcBef>
              <a:spcAft>
                <a:spcPts val="0"/>
              </a:spcAft>
              <a:buSzPts val="2640"/>
              <a:buChar char="▪"/>
              <a:defRPr sz="2300"/>
            </a:lvl1pPr>
            <a:lvl2pPr marL="885505" lvl="1" indent="-356662" algn="l">
              <a:spcBef>
                <a:spcPts val="678"/>
              </a:spcBef>
              <a:spcAft>
                <a:spcPts val="0"/>
              </a:spcAft>
              <a:buSzPts val="2200"/>
              <a:buChar char="•"/>
              <a:defRPr sz="1900"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 sz="1700"/>
            </a:lvl3pPr>
            <a:lvl4pPr marL="1771010" lvl="3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–"/>
              <a:defRPr sz="1500"/>
            </a:lvl4pPr>
            <a:lvl5pPr marL="2213762" lvl="4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5pPr>
            <a:lvl6pPr marL="2656515" lvl="5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6pPr>
            <a:lvl7pPr marL="3099267" lvl="6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7pPr>
            <a:lvl8pPr marL="3542020" lvl="7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8pPr>
            <a:lvl9pPr marL="3984772" lvl="8" indent="-295168" algn="l">
              <a:spcBef>
                <a:spcPts val="542"/>
              </a:spcBef>
              <a:spcAft>
                <a:spcPts val="0"/>
              </a:spcAft>
              <a:buSzPts val="1200"/>
              <a:buFont typeface="Helvetica Neue"/>
              <a:buChar char="»"/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1654069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538508" y="843563"/>
            <a:ext cx="11083807" cy="38182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536" tIns="44256" rIns="88536" bIns="44256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7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19760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677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609526" y="273112"/>
            <a:ext cx="4010562" cy="116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4766113" y="273116"/>
            <a:ext cx="6814780" cy="585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437832" algn="l">
              <a:spcBef>
                <a:spcPts val="1085"/>
              </a:spcBef>
              <a:spcAft>
                <a:spcPts val="0"/>
              </a:spcAft>
              <a:buSzPts val="3520"/>
              <a:buChar char="▪"/>
              <a:defRPr sz="3100"/>
            </a:lvl1pPr>
            <a:lvl2pPr marL="885505" lvl="1" indent="-410776" algn="l">
              <a:spcBef>
                <a:spcPts val="949"/>
              </a:spcBef>
              <a:spcAft>
                <a:spcPts val="0"/>
              </a:spcAft>
              <a:buSzPts val="3080"/>
              <a:buFont typeface="Noto Sans Symbols"/>
              <a:buChar char="▪"/>
              <a:defRPr sz="2700"/>
            </a:lvl2pPr>
            <a:lvl3pPr marL="1328257" lvl="2" indent="-332064" algn="l">
              <a:spcBef>
                <a:spcPts val="813"/>
              </a:spcBef>
              <a:spcAft>
                <a:spcPts val="0"/>
              </a:spcAft>
              <a:buSzPts val="1800"/>
              <a:buChar char="4"/>
              <a:defRPr sz="2300"/>
            </a:lvl3pPr>
            <a:lvl4pPr marL="1771010" lvl="3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–"/>
              <a:defRPr sz="1900"/>
            </a:lvl4pPr>
            <a:lvl5pPr marL="2213762" lvl="4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5pPr>
            <a:lvl6pPr marL="2656515" lvl="5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6pPr>
            <a:lvl7pPr marL="3099267" lvl="6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7pPr>
            <a:lvl8pPr marL="3542020" lvl="7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8pPr>
            <a:lvl9pPr marL="3984772" lvl="8" indent="-313617" algn="l">
              <a:spcBef>
                <a:spcPts val="678"/>
              </a:spcBef>
              <a:spcAft>
                <a:spcPts val="0"/>
              </a:spcAft>
              <a:buSzPts val="1500"/>
              <a:buFont typeface="Helvetica Neue"/>
              <a:buChar char="»"/>
              <a:defRPr sz="1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609526" y="1435436"/>
            <a:ext cx="4010562" cy="469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221376" algn="l">
              <a:spcBef>
                <a:spcPts val="475"/>
              </a:spcBef>
              <a:spcAft>
                <a:spcPts val="0"/>
              </a:spcAft>
              <a:buSzPts val="1540"/>
              <a:buNone/>
              <a:defRPr sz="1400"/>
            </a:lvl1pPr>
            <a:lvl2pPr marL="885505" lvl="1" indent="-221376" algn="l">
              <a:spcBef>
                <a:spcPts val="407"/>
              </a:spcBef>
              <a:spcAft>
                <a:spcPts val="0"/>
              </a:spcAft>
              <a:buSzPts val="1320"/>
              <a:buNone/>
              <a:defRPr sz="1200"/>
            </a:lvl2pPr>
            <a:lvl3pPr marL="1328257" lvl="2" indent="-221376" algn="l">
              <a:spcBef>
                <a:spcPts val="340"/>
              </a:spcBef>
              <a:spcAft>
                <a:spcPts val="0"/>
              </a:spcAft>
              <a:buSzPts val="750"/>
              <a:buNone/>
              <a:defRPr sz="1000"/>
            </a:lvl3pPr>
            <a:lvl4pPr marL="1771010" lvl="3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marL="2213762" lvl="4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marL="2656515" lvl="5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marL="3099267" lvl="6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marL="3542020" lvl="7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marL="3984772" lvl="8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43727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2389406" y="4801711"/>
            <a:ext cx="7314248" cy="56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pic" idx="2"/>
          </p:nvPr>
        </p:nvSpPr>
        <p:spPr>
          <a:xfrm>
            <a:off x="2389406" y="612918"/>
            <a:ext cx="7314248" cy="4115753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2389406" y="5368582"/>
            <a:ext cx="7314248" cy="8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221376" algn="l">
              <a:spcBef>
                <a:spcPts val="475"/>
              </a:spcBef>
              <a:spcAft>
                <a:spcPts val="0"/>
              </a:spcAft>
              <a:buSzPts val="1540"/>
              <a:buNone/>
              <a:defRPr sz="1400"/>
            </a:lvl1pPr>
            <a:lvl2pPr marL="885505" lvl="1" indent="-221376" algn="l">
              <a:spcBef>
                <a:spcPts val="407"/>
              </a:spcBef>
              <a:spcAft>
                <a:spcPts val="0"/>
              </a:spcAft>
              <a:buSzPts val="1320"/>
              <a:buNone/>
              <a:defRPr sz="1200"/>
            </a:lvl2pPr>
            <a:lvl3pPr marL="1328257" lvl="2" indent="-221376" algn="l">
              <a:spcBef>
                <a:spcPts val="340"/>
              </a:spcBef>
              <a:spcAft>
                <a:spcPts val="0"/>
              </a:spcAft>
              <a:buSzPts val="750"/>
              <a:buNone/>
              <a:defRPr sz="1000"/>
            </a:lvl3pPr>
            <a:lvl4pPr marL="1771010" lvl="3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marL="2213762" lvl="4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marL="2656515" lvl="5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marL="3099267" lvl="6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marL="3542020" lvl="7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marL="3984772" lvl="8" indent="-221376" algn="l">
              <a:spcBef>
                <a:spcPts val="30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63233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4294927" y="-1986026"/>
            <a:ext cx="4531774" cy="109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43134" algn="l">
              <a:spcBef>
                <a:spcPts val="609"/>
              </a:spcBef>
              <a:spcAft>
                <a:spcPts val="0"/>
              </a:spcAft>
              <a:buSzPts val="1980"/>
              <a:buChar char="▪"/>
              <a:defRPr/>
            </a:lvl1pPr>
            <a:lvl2pPr marL="885505" lvl="1" indent="-343134" algn="l">
              <a:spcBef>
                <a:spcPts val="609"/>
              </a:spcBef>
              <a:spcAft>
                <a:spcPts val="0"/>
              </a:spcAft>
              <a:buSzPts val="1980"/>
              <a:buChar char="•"/>
              <a:defRPr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Char char="–"/>
              <a:defRPr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2524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 rot="5400000">
            <a:off x="7873042" y="1592092"/>
            <a:ext cx="5487670" cy="285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 rot="5400000">
            <a:off x="2052966" y="-1165568"/>
            <a:ext cx="5487670" cy="837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42752" lvl="0" indent="-343134" algn="l">
              <a:spcBef>
                <a:spcPts val="609"/>
              </a:spcBef>
              <a:spcAft>
                <a:spcPts val="0"/>
              </a:spcAft>
              <a:buSzPts val="1980"/>
              <a:buChar char="▪"/>
              <a:defRPr/>
            </a:lvl1pPr>
            <a:lvl2pPr marL="885505" lvl="1" indent="-343134" algn="l">
              <a:spcBef>
                <a:spcPts val="609"/>
              </a:spcBef>
              <a:spcAft>
                <a:spcPts val="0"/>
              </a:spcAft>
              <a:buSzPts val="1980"/>
              <a:buChar char="•"/>
              <a:defRPr/>
            </a:lvl2pPr>
            <a:lvl3pPr marL="1328257" lvl="2" indent="-304393" algn="l">
              <a:spcBef>
                <a:spcPts val="609"/>
              </a:spcBef>
              <a:spcAft>
                <a:spcPts val="0"/>
              </a:spcAft>
              <a:buSzPts val="1350"/>
              <a:buChar char="4"/>
              <a:defRPr/>
            </a:lvl3pPr>
            <a:lvl4pPr marL="1771010" lvl="3" indent="-304393" algn="l">
              <a:spcBef>
                <a:spcPts val="609"/>
              </a:spcBef>
              <a:spcAft>
                <a:spcPts val="0"/>
              </a:spcAft>
              <a:buSzPts val="1350"/>
              <a:buChar char="–"/>
              <a:defRPr/>
            </a:lvl4pPr>
            <a:lvl5pPr marL="2213762" lvl="4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5pPr>
            <a:lvl6pPr marL="2656515" lvl="5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6pPr>
            <a:lvl7pPr marL="3099267" lvl="6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7pPr>
            <a:lvl8pPr marL="3542020" lvl="7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8pPr>
            <a:lvl9pPr marL="3984772" lvl="8" indent="-304393" algn="l">
              <a:spcBef>
                <a:spcPts val="609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154918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63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443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75127" y="1233776"/>
            <a:ext cx="10971372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57200" marR="0" lvl="0" indent="-354330" algn="l" rtl="0">
              <a:spcBef>
                <a:spcPts val="630"/>
              </a:spcBef>
              <a:spcAft>
                <a:spcPts val="0"/>
              </a:spcAft>
              <a:buClr>
                <a:srgbClr val="044389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4330" algn="l" rtl="0">
              <a:spcBef>
                <a:spcPts val="630"/>
              </a:spcBef>
              <a:spcAft>
                <a:spcPts val="0"/>
              </a:spcAft>
              <a:buClr>
                <a:srgbClr val="FFCB0C"/>
              </a:buClr>
              <a:buSzPts val="198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14325" algn="l" rtl="0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14325" algn="l" rtl="0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1" y="0"/>
            <a:ext cx="304760" cy="2286530"/>
          </a:xfrm>
          <a:prstGeom prst="rect">
            <a:avLst/>
          </a:prstGeom>
          <a:solidFill>
            <a:srgbClr val="044389"/>
          </a:solidFill>
          <a:ln>
            <a:noFill/>
          </a:ln>
        </p:spPr>
        <p:txBody>
          <a:bodyPr spcFirstLastPara="1" wrap="square" lIns="88536" tIns="44256" rIns="88536" bIns="4425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609521" y="860624"/>
            <a:ext cx="10768198" cy="0"/>
          </a:xfrm>
          <a:prstGeom prst="straightConnector1">
            <a:avLst/>
          </a:prstGeom>
          <a:noFill/>
          <a:ln w="19050" cap="flat" cmpd="sng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"/>
          <p:cNvSpPr/>
          <p:nvPr/>
        </p:nvSpPr>
        <p:spPr>
          <a:xfrm>
            <a:off x="1" y="2286529"/>
            <a:ext cx="304760" cy="2286530"/>
          </a:xfrm>
          <a:prstGeom prst="rect">
            <a:avLst/>
          </a:prstGeom>
          <a:solidFill>
            <a:srgbClr val="FFCB0C"/>
          </a:solidFill>
          <a:ln>
            <a:noFill/>
          </a:ln>
        </p:spPr>
        <p:txBody>
          <a:bodyPr spcFirstLastPara="1" wrap="square" lIns="88536" tIns="44256" rIns="88536" bIns="4425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" y="4573058"/>
            <a:ext cx="304760" cy="2286530"/>
          </a:xfrm>
          <a:prstGeom prst="rect">
            <a:avLst/>
          </a:prstGeom>
          <a:solidFill>
            <a:srgbClr val="044389"/>
          </a:solidFill>
          <a:ln>
            <a:noFill/>
          </a:ln>
        </p:spPr>
        <p:txBody>
          <a:bodyPr spcFirstLastPara="1" wrap="square" lIns="88536" tIns="44256" rIns="88536" bIns="4425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5676163" y="6615058"/>
            <a:ext cx="592590" cy="2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36" tIns="44256" rIns="88536" bIns="44256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i="0" u="none" strike="noStrike" cap="none">
                <a:solidFill>
                  <a:srgbClr val="0443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fld id="{00000000-1234-1234-1234-123412341234}" type="slidenum">
              <a:rPr lang="fr-FR" sz="1000" b="1" i="0" u="none" strike="noStrike" cap="none">
                <a:solidFill>
                  <a:srgbClr val="0443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 sz="1000" b="1" i="0" u="none" strike="noStrike" cap="none">
              <a:solidFill>
                <a:srgbClr val="04438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95455" y="6396292"/>
            <a:ext cx="2594963" cy="370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33871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09" r:id="rId1"/>
    <p:sldLayoutId id="2147484110" r:id="rId2"/>
    <p:sldLayoutId id="2147484111" r:id="rId3"/>
    <p:sldLayoutId id="2147484112" r:id="rId4"/>
    <p:sldLayoutId id="2147484115" r:id="rId5"/>
    <p:sldLayoutId id="2147484116" r:id="rId6"/>
    <p:sldLayoutId id="2147484117" r:id="rId7"/>
    <p:sldLayoutId id="2147484118" r:id="rId8"/>
    <p:sldLayoutId id="2147484119" r:id="rId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609522" y="274703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609520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165058" y="6357825"/>
            <a:ext cx="3860298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8883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21" r:id="rId1"/>
    <p:sldLayoutId id="2147484122" r:id="rId2"/>
    <p:sldLayoutId id="2147484123" r:id="rId3"/>
    <p:sldLayoutId id="2147484124" r:id="rId4"/>
    <p:sldLayoutId id="2147484125" r:id="rId5"/>
    <p:sldLayoutId id="2147484126" r:id="rId6"/>
    <p:sldLayoutId id="2147484127" r:id="rId7"/>
    <p:sldLayoutId id="2147484128" r:id="rId8"/>
    <p:sldLayoutId id="2147484129" r:id="rId9"/>
    <p:sldLayoutId id="2147484130" r:id="rId10"/>
    <p:sldLayoutId id="214748413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522" y="277880"/>
            <a:ext cx="10971372" cy="57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443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75127" y="1233776"/>
            <a:ext cx="10971372" cy="453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noAutofit/>
          </a:bodyPr>
          <a:lstStyle>
            <a:lvl1pPr marL="457200" marR="0" lvl="0" indent="-354330" algn="l" rtl="0">
              <a:spcBef>
                <a:spcPts val="630"/>
              </a:spcBef>
              <a:spcAft>
                <a:spcPts val="0"/>
              </a:spcAft>
              <a:buClr>
                <a:srgbClr val="044389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4330" algn="l" rtl="0">
              <a:spcBef>
                <a:spcPts val="630"/>
              </a:spcBef>
              <a:spcAft>
                <a:spcPts val="0"/>
              </a:spcAft>
              <a:buClr>
                <a:srgbClr val="FFCB0C"/>
              </a:buClr>
              <a:buSzPts val="198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14325" algn="l" rtl="0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14325" algn="l" rtl="0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1" y="0"/>
            <a:ext cx="304760" cy="2286530"/>
          </a:xfrm>
          <a:prstGeom prst="rect">
            <a:avLst/>
          </a:prstGeom>
          <a:solidFill>
            <a:srgbClr val="044389"/>
          </a:solidFill>
          <a:ln>
            <a:noFill/>
          </a:ln>
        </p:spPr>
        <p:txBody>
          <a:bodyPr spcFirstLastPara="1" wrap="square" lIns="88536" tIns="44256" rIns="88536" bIns="4425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609521" y="860624"/>
            <a:ext cx="10768198" cy="0"/>
          </a:xfrm>
          <a:prstGeom prst="straightConnector1">
            <a:avLst/>
          </a:prstGeom>
          <a:noFill/>
          <a:ln w="19050" cap="flat" cmpd="sng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"/>
          <p:cNvSpPr/>
          <p:nvPr/>
        </p:nvSpPr>
        <p:spPr>
          <a:xfrm>
            <a:off x="1" y="2286529"/>
            <a:ext cx="304760" cy="2286530"/>
          </a:xfrm>
          <a:prstGeom prst="rect">
            <a:avLst/>
          </a:prstGeom>
          <a:solidFill>
            <a:srgbClr val="FFCB0C"/>
          </a:solidFill>
          <a:ln>
            <a:noFill/>
          </a:ln>
        </p:spPr>
        <p:txBody>
          <a:bodyPr spcFirstLastPara="1" wrap="square" lIns="88536" tIns="44256" rIns="88536" bIns="4425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" y="4573058"/>
            <a:ext cx="304760" cy="2286530"/>
          </a:xfrm>
          <a:prstGeom prst="rect">
            <a:avLst/>
          </a:prstGeom>
          <a:solidFill>
            <a:srgbClr val="044389"/>
          </a:solidFill>
          <a:ln>
            <a:noFill/>
          </a:ln>
        </p:spPr>
        <p:txBody>
          <a:bodyPr spcFirstLastPara="1" wrap="square" lIns="88536" tIns="44256" rIns="88536" bIns="4425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5676163" y="6615058"/>
            <a:ext cx="592590" cy="2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36" tIns="44256" rIns="88536" bIns="44256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i="0" u="none" strike="noStrike" cap="none">
                <a:solidFill>
                  <a:srgbClr val="0443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fld id="{00000000-1234-1234-1234-123412341234}" type="slidenum">
              <a:rPr lang="fr-FR" sz="1000" b="1" i="0" u="none" strike="noStrike" cap="none">
                <a:solidFill>
                  <a:srgbClr val="0443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 sz="1000" b="1" i="0" u="none" strike="noStrike" cap="none">
              <a:solidFill>
                <a:srgbClr val="04438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595455" y="6396292"/>
            <a:ext cx="2594963" cy="370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4926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  <p:sldLayoutId id="2147484144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A030C7-9545-91F4-ED34-9D7583BC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282" y="397658"/>
            <a:ext cx="10361852" cy="2416044"/>
          </a:xfrm>
        </p:spPr>
        <p:txBody>
          <a:bodyPr/>
          <a:lstStyle/>
          <a:p>
            <a:r>
              <a:rPr lang="fr-FR" dirty="0" smtClean="0"/>
              <a:t/>
            </a:r>
            <a:br>
              <a:rPr lang="fr-FR" dirty="0" smtClean="0"/>
            </a:br>
            <a:r>
              <a:rPr lang="fr-FR" dirty="0"/>
              <a:t/>
            </a:r>
            <a:br>
              <a:rPr lang="fr-FR" dirty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Course : HTML5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2600" dirty="0">
                <a:solidFill>
                  <a:schemeClr val="tx1"/>
                </a:solidFill>
              </a:rPr>
              <a:t>Teacher: Dr. Noura </a:t>
            </a:r>
            <a:r>
              <a:rPr lang="fr-FR" sz="2600" dirty="0" smtClean="0">
                <a:solidFill>
                  <a:schemeClr val="tx1"/>
                </a:solidFill>
              </a:rPr>
              <a:t>ABOUDI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0618994" y="6117607"/>
            <a:ext cx="1410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>
                <a:solidFill>
                  <a:srgbClr val="FFCA0D"/>
                </a:solidFill>
              </a:rPr>
              <a:t>20</a:t>
            </a:r>
            <a:r>
              <a:rPr lang="fr-FR" sz="2000" b="1" dirty="0">
                <a:solidFill>
                  <a:srgbClr val="FFCA0D"/>
                </a:solidFill>
              </a:rPr>
              <a:t>25-202</a:t>
            </a:r>
            <a:r>
              <a:rPr lang="fr-FR" sz="2000" b="1" dirty="0" smtClean="0">
                <a:solidFill>
                  <a:srgbClr val="FFCA0D"/>
                </a:solidFill>
              </a:rPr>
              <a:t>6</a:t>
            </a:r>
            <a:endParaRPr lang="en-US" sz="2000" b="1" dirty="0"/>
          </a:p>
        </p:txBody>
      </p:sp>
      <p:pic>
        <p:nvPicPr>
          <p:cNvPr id="4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56" y="4551252"/>
            <a:ext cx="1645633" cy="1547819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88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8" y="238598"/>
            <a:ext cx="640038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HTML5 </a:t>
            </a:r>
            <a:r>
              <a:rPr lang="fr-FR" sz="4200" b="1" dirty="0" err="1">
                <a:solidFill>
                  <a:srgbClr val="044389"/>
                </a:solidFill>
              </a:rPr>
              <a:t>Chapter</a:t>
            </a:r>
            <a:r>
              <a:rPr lang="fr-FR" sz="4200" b="1" dirty="0">
                <a:solidFill>
                  <a:srgbClr val="044389"/>
                </a:solidFill>
              </a:rPr>
              <a:t>: </a:t>
            </a:r>
            <a:r>
              <a:rPr lang="fr-FR" sz="4200" b="1" dirty="0" err="1">
                <a:solidFill>
                  <a:srgbClr val="044389"/>
                </a:solidFill>
              </a:rPr>
              <a:t>Outline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7" name="Google Shape;91;p13"/>
          <p:cNvSpPr/>
          <p:nvPr/>
        </p:nvSpPr>
        <p:spPr>
          <a:xfrm>
            <a:off x="820083" y="1485890"/>
            <a:ext cx="400860" cy="432100"/>
          </a:xfrm>
          <a:prstGeom prst="rect">
            <a:avLst/>
          </a:prstGeom>
          <a:solidFill>
            <a:srgbClr val="3153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118048" tIns="59008" rIns="118048" bIns="59008" anchor="ctr" anchorCtr="0">
            <a:noAutofit/>
          </a:bodyPr>
          <a:lstStyle/>
          <a:p>
            <a:pPr algn="ctr"/>
            <a:r>
              <a:rPr lang="fr-FR" sz="23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         </a:t>
            </a:r>
            <a:endParaRPr dirty="0"/>
          </a:p>
        </p:txBody>
      </p:sp>
      <p:sp>
        <p:nvSpPr>
          <p:cNvPr id="8" name="Google Shape;92;p13"/>
          <p:cNvSpPr txBox="1"/>
          <p:nvPr/>
        </p:nvSpPr>
        <p:spPr>
          <a:xfrm>
            <a:off x="1848799" y="1372132"/>
            <a:ext cx="10341618" cy="47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48" tIns="59008" rIns="118048" bIns="59008" anchor="t" anchorCtr="0">
            <a:spAutoFit/>
          </a:bodyPr>
          <a:lstStyle/>
          <a:p>
            <a:pPr lvl="0"/>
            <a:r>
              <a:rPr lang="fr-FR" sz="3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HTML: </a:t>
            </a:r>
            <a:r>
              <a:rPr lang="fr-FR" sz="31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r>
              <a:rPr lang="fr-FR" sz="3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Versions</a:t>
            </a:r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3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tags</a:t>
            </a:r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fr-FR" sz="31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Comments</a:t>
            </a:r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fr-FR" sz="31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</a:t>
            </a:r>
            <a:r>
              <a:rPr lang="fr-FR" sz="31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lang="fr-FR" sz="31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fr-FR" sz="31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fr-FR" sz="31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pages structure</a:t>
            </a:r>
            <a:endParaRPr sz="3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fr-FR" sz="23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3;p13"/>
          <p:cNvSpPr/>
          <p:nvPr/>
        </p:nvSpPr>
        <p:spPr>
          <a:xfrm>
            <a:off x="820083" y="2474834"/>
            <a:ext cx="400860" cy="432100"/>
          </a:xfrm>
          <a:prstGeom prst="rect">
            <a:avLst/>
          </a:prstGeom>
          <a:solidFill>
            <a:srgbClr val="3153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118048" tIns="59008" rIns="118048" bIns="59008" anchor="ctr" anchorCtr="0">
            <a:noAutofit/>
          </a:bodyPr>
          <a:lstStyle/>
          <a:p>
            <a:pPr algn="ctr"/>
            <a:r>
              <a:rPr lang="fr-FR" sz="2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        </a:t>
            </a:r>
            <a:endParaRPr/>
          </a:p>
        </p:txBody>
      </p:sp>
      <p:sp>
        <p:nvSpPr>
          <p:cNvPr id="10" name="Google Shape;94;p13"/>
          <p:cNvSpPr/>
          <p:nvPr/>
        </p:nvSpPr>
        <p:spPr>
          <a:xfrm>
            <a:off x="820083" y="3312241"/>
            <a:ext cx="400860" cy="432100"/>
          </a:xfrm>
          <a:prstGeom prst="rect">
            <a:avLst/>
          </a:prstGeom>
          <a:solidFill>
            <a:srgbClr val="3153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118048" tIns="59008" rIns="118048" bIns="59008" anchor="ctr" anchorCtr="0">
            <a:noAutofit/>
          </a:bodyPr>
          <a:lstStyle/>
          <a:p>
            <a:pPr algn="ctr"/>
            <a:r>
              <a:rPr lang="fr-FR" sz="2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         </a:t>
            </a:r>
            <a:endParaRPr/>
          </a:p>
        </p:txBody>
      </p:sp>
      <p:sp>
        <p:nvSpPr>
          <p:cNvPr id="11" name="Google Shape;95;p13"/>
          <p:cNvSpPr/>
          <p:nvPr/>
        </p:nvSpPr>
        <p:spPr>
          <a:xfrm>
            <a:off x="820083" y="4200307"/>
            <a:ext cx="400860" cy="432100"/>
          </a:xfrm>
          <a:prstGeom prst="rect">
            <a:avLst/>
          </a:prstGeom>
          <a:solidFill>
            <a:srgbClr val="3153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118048" tIns="59008" rIns="118048" bIns="59008" anchor="ctr" anchorCtr="0">
            <a:noAutofit/>
          </a:bodyPr>
          <a:lstStyle/>
          <a:p>
            <a:pPr algn="ctr"/>
            <a:r>
              <a:rPr lang="fr-FR" sz="2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          </a:t>
            </a:r>
            <a:endParaRPr/>
          </a:p>
        </p:txBody>
      </p:sp>
      <p:sp>
        <p:nvSpPr>
          <p:cNvPr id="12" name="Google Shape;96;p13"/>
          <p:cNvSpPr/>
          <p:nvPr/>
        </p:nvSpPr>
        <p:spPr>
          <a:xfrm>
            <a:off x="820083" y="5178775"/>
            <a:ext cx="400860" cy="432100"/>
          </a:xfrm>
          <a:prstGeom prst="rect">
            <a:avLst/>
          </a:prstGeom>
          <a:solidFill>
            <a:srgbClr val="3153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118048" tIns="59008" rIns="118048" bIns="59008" anchor="ctr" anchorCtr="0">
            <a:noAutofit/>
          </a:bodyPr>
          <a:lstStyle/>
          <a:p>
            <a:pPr algn="ctr"/>
            <a:r>
              <a:rPr lang="fr-FR" sz="2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         </a:t>
            </a:r>
            <a:endParaRPr/>
          </a:p>
        </p:txBody>
      </p:sp>
      <p:pic>
        <p:nvPicPr>
          <p:cNvPr id="14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391" y="1476342"/>
            <a:ext cx="2843083" cy="4264625"/>
          </a:xfrm>
          <a:prstGeom prst="rect">
            <a:avLst/>
          </a:prstGeom>
        </p:spPr>
      </p:pic>
      <p:pic>
        <p:nvPicPr>
          <p:cNvPr id="1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38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4" y="238598"/>
            <a:ext cx="203380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HTML5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85659" y="1200389"/>
            <a:ext cx="10582687" cy="5166757"/>
          </a:xfrm>
          <a:prstGeom prst="rect">
            <a:avLst/>
          </a:prstGeom>
          <a:noFill/>
        </p:spPr>
        <p:txBody>
          <a:bodyPr wrap="square" lIns="118067" tIns="59034" rIns="118067" bIns="59034" rtlCol="0">
            <a:spAutoFit/>
          </a:bodyPr>
          <a:lstStyle/>
          <a:p>
            <a:r>
              <a:rPr lang="en-US" sz="3600" dirty="0">
                <a:latin typeface="Bahnschrift Condensed" panose="020B0502040204020203" pitchFamily="34" charset="0"/>
              </a:rPr>
              <a:t>This chapter aims to acquire has the learner:</a:t>
            </a:r>
          </a:p>
          <a:p>
            <a:endParaRPr lang="en-US" sz="3600" dirty="0">
              <a:latin typeface="Bahnschrift Condensed" panose="020B0502040204020203" pitchFamily="34" charset="0"/>
            </a:endParaRPr>
          </a:p>
          <a:p>
            <a:pPr marL="590337" indent="-590337">
              <a:buFont typeface="Wingdings" panose="05000000000000000000" pitchFamily="2" charset="2"/>
              <a:buChar char="v"/>
            </a:pP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Definition of HTML and its purpose</a:t>
            </a:r>
          </a:p>
          <a:p>
            <a:pPr marL="590337" indent="-590337">
              <a:buFont typeface="Wingdings" panose="05000000000000000000" pitchFamily="2" charset="2"/>
              <a:buChar char="v"/>
            </a:pPr>
            <a:endParaRPr lang="en-US" sz="32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  <a:p>
            <a:pPr marL="590337" indent="-590337">
              <a:buFont typeface="Wingdings" panose="05000000000000000000" pitchFamily="2" charset="2"/>
              <a:buChar char="v"/>
            </a:pP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 Examples of common tags (headings, paragraphs, links, lists, tables, forms)</a:t>
            </a:r>
          </a:p>
          <a:p>
            <a:pPr marL="590337" indent="-590337">
              <a:buFont typeface="Wingdings" panose="05000000000000000000" pitchFamily="2" charset="2"/>
              <a:buChar char="v"/>
            </a:pPr>
            <a:endParaRPr lang="en-US" sz="32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  <a:p>
            <a:pPr marL="590337" indent="-590337">
              <a:buFont typeface="Wingdings" panose="05000000000000000000" pitchFamily="2" charset="2"/>
              <a:buChar char="v"/>
            </a:pP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Structuring an HTML document </a:t>
            </a:r>
          </a:p>
          <a:p>
            <a:pPr marL="590337" indent="-590337">
              <a:buFont typeface="Wingdings" panose="05000000000000000000" pitchFamily="2" charset="2"/>
              <a:buChar char="v"/>
            </a:pPr>
            <a:endParaRPr lang="en-US" sz="32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  <a:p>
            <a:pPr marL="590337" indent="-590337">
              <a:buFont typeface="Wingdings" panose="05000000000000000000" pitchFamily="2" charset="2"/>
              <a:buChar char="v"/>
            </a:pP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Validating an HTML page and form inputs</a:t>
            </a:r>
            <a:endParaRPr lang="fr-FR" sz="3200" kern="1200" spc="-13" dirty="0">
              <a:solidFill>
                <a:schemeClr val="tx1"/>
              </a:solidFill>
              <a:latin typeface="Bahnschrift Condensed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99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238598"/>
            <a:ext cx="8136436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: </a:t>
            </a:r>
            <a:r>
              <a:rPr lang="fr-FR" sz="4200" b="1" dirty="0" err="1">
                <a:solidFill>
                  <a:srgbClr val="044389"/>
                </a:solidFill>
              </a:rPr>
              <a:t>Overview</a:t>
            </a:r>
            <a:r>
              <a:rPr lang="fr-FR" sz="4200" b="1" dirty="0">
                <a:solidFill>
                  <a:srgbClr val="044389"/>
                </a:solidFill>
              </a:rPr>
              <a:t> and Versions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85660" y="1315705"/>
            <a:ext cx="10582687" cy="1227217"/>
          </a:xfrm>
          <a:prstGeom prst="rect">
            <a:avLst/>
          </a:prstGeom>
          <a:noFill/>
        </p:spPr>
        <p:txBody>
          <a:bodyPr wrap="square" lIns="118067" tIns="59034" rIns="118067" bIns="59034" rtlCol="0">
            <a:spAutoFit/>
          </a:bodyPr>
          <a:lstStyle/>
          <a:p>
            <a:pPr marL="590337" indent="-590337" algn="just">
              <a:buFont typeface="Wingdings" panose="05000000000000000000" pitchFamily="2" charset="2"/>
              <a:buChar char="ü"/>
            </a:pPr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590337" indent="-590337" algn="just">
              <a:buFont typeface="Wingdings" panose="05000000000000000000" pitchFamily="2" charset="2"/>
              <a:buChar char="ü"/>
            </a:pPr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2805" y="1146021"/>
            <a:ext cx="3980241" cy="5054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ctr"/>
            <a:endParaRPr lang="en-US" sz="5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90337" indent="-59033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What is </a:t>
            </a:r>
            <a:r>
              <a:rPr lang="en-US" sz="36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HTML?</a:t>
            </a:r>
            <a:endParaRPr lang="en-US" sz="3600" dirty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</a:t>
            </a:r>
            <a:r>
              <a:rPr lang="en-US" sz="2100" dirty="0" smtClean="0">
                <a:solidFill>
                  <a:srgbClr val="FF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lang="en-US" sz="3600" dirty="0" smtClean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H </a:t>
            </a: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T M L</a:t>
            </a:r>
          </a:p>
          <a:p>
            <a:pPr algn="ctr"/>
            <a:endParaRPr lang="fr-FR" sz="24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24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fr-FR" sz="2800" dirty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H</a:t>
            </a:r>
            <a:r>
              <a:rPr lang="fr-FR" sz="28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yper </a:t>
            </a:r>
            <a:r>
              <a:rPr lang="fr-FR" sz="2800" dirty="0" err="1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T</a:t>
            </a:r>
            <a:r>
              <a:rPr lang="fr-FR" sz="28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ext</a:t>
            </a:r>
            <a:r>
              <a:rPr lang="fr-FR" sz="28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arkup</a:t>
            </a:r>
            <a:r>
              <a:rPr lang="fr-FR" sz="28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anguage</a:t>
            </a: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3046" y="1053257"/>
            <a:ext cx="7475808" cy="5054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90337" indent="-59033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Markup language for creating webpages content and structure.</a:t>
            </a:r>
          </a:p>
          <a:p>
            <a:pPr marL="590337" indent="-59033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Not a programming language.</a:t>
            </a:r>
          </a:p>
          <a:p>
            <a:pPr marL="590337" indent="-59033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Building blocks of the web.</a:t>
            </a:r>
          </a:p>
          <a:p>
            <a:pPr marL="590337" indent="-59033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It is a markup language: &lt;tag&gt;Content&lt;/tag&gt;.</a:t>
            </a:r>
          </a:p>
          <a:p>
            <a:pPr marL="590337" indent="-59033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/>
              </a:rPr>
              <a:t>Contains around 140 tags.</a:t>
            </a: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8"/>
          <p:cNvCxnSpPr/>
          <p:nvPr/>
        </p:nvCxnSpPr>
        <p:spPr>
          <a:xfrm flipH="1">
            <a:off x="927652" y="2853794"/>
            <a:ext cx="980663" cy="19965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H="1" flipV="1">
            <a:off x="2920183" y="2853794"/>
            <a:ext cx="604895" cy="19965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flipH="1">
            <a:off x="1666338" y="2864758"/>
            <a:ext cx="483953" cy="19855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flipH="1">
            <a:off x="2425148" y="2853794"/>
            <a:ext cx="137778" cy="19965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11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64858"/>
            <a:ext cx="6791516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Relevant </a:t>
            </a:r>
            <a:r>
              <a:rPr lang="fr-FR" sz="4200" b="1" dirty="0" err="1">
                <a:solidFill>
                  <a:srgbClr val="044389"/>
                </a:solidFill>
              </a:rPr>
              <a:t>History</a:t>
            </a:r>
            <a:r>
              <a:rPr lang="fr-FR" sz="4200" b="1" dirty="0">
                <a:solidFill>
                  <a:srgbClr val="044389"/>
                </a:solidFill>
              </a:rPr>
              <a:t> of HTML</a:t>
            </a:r>
            <a:endParaRPr lang="en-US" sz="4200" b="1" dirty="0">
              <a:solidFill>
                <a:srgbClr val="044389"/>
              </a:solidFill>
            </a:endParaRPr>
          </a:p>
        </p:txBody>
      </p:sp>
      <p:pic>
        <p:nvPicPr>
          <p:cNvPr id="4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3">
            <a:extLst>
              <a:ext uri="{FF2B5EF4-FFF2-40B4-BE49-F238E27FC236}">
                <a16:creationId xmlns="" xmlns:a16="http://schemas.microsoft.com/office/drawing/2014/main" id="{0E77964E-82F3-486D-AC13-28DF1584DCB9}"/>
              </a:ext>
            </a:extLst>
          </p:cNvPr>
          <p:cNvSpPr/>
          <p:nvPr/>
        </p:nvSpPr>
        <p:spPr>
          <a:xfrm>
            <a:off x="10328957" y="3244724"/>
            <a:ext cx="1464730" cy="1464728"/>
          </a:xfrm>
          <a:prstGeom prst="ellipse">
            <a:avLst/>
          </a:prstGeom>
          <a:solidFill>
            <a:schemeClr val="accent6">
              <a:alpha val="1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38">
            <a:extLst>
              <a:ext uri="{FF2B5EF4-FFF2-40B4-BE49-F238E27FC236}">
                <a16:creationId xmlns="" xmlns:a16="http://schemas.microsoft.com/office/drawing/2014/main" id="{C8B9C6D0-3688-4A30-BF0A-B21713DA7795}"/>
              </a:ext>
            </a:extLst>
          </p:cNvPr>
          <p:cNvSpPr/>
          <p:nvPr/>
        </p:nvSpPr>
        <p:spPr>
          <a:xfrm>
            <a:off x="8591241" y="3244724"/>
            <a:ext cx="1464730" cy="1464728"/>
          </a:xfrm>
          <a:prstGeom prst="ellipse">
            <a:avLst/>
          </a:prstGeom>
          <a:solidFill>
            <a:schemeClr val="accent5">
              <a:alpha val="1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31">
            <a:extLst>
              <a:ext uri="{FF2B5EF4-FFF2-40B4-BE49-F238E27FC236}">
                <a16:creationId xmlns="" xmlns:a16="http://schemas.microsoft.com/office/drawing/2014/main" id="{B2C64199-8920-4B40-9E97-B69DDABC62D8}"/>
              </a:ext>
            </a:extLst>
          </p:cNvPr>
          <p:cNvSpPr/>
          <p:nvPr/>
        </p:nvSpPr>
        <p:spPr>
          <a:xfrm>
            <a:off x="6509715" y="3244724"/>
            <a:ext cx="1464730" cy="1464728"/>
          </a:xfrm>
          <a:prstGeom prst="ellipse">
            <a:avLst/>
          </a:prstGeom>
          <a:solidFill>
            <a:schemeClr val="accent4">
              <a:alpha val="1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23">
            <a:extLst>
              <a:ext uri="{FF2B5EF4-FFF2-40B4-BE49-F238E27FC236}">
                <a16:creationId xmlns="" xmlns:a16="http://schemas.microsoft.com/office/drawing/2014/main" id="{D06A14E4-708D-4699-8C46-DC1A8D7B5CD2}"/>
              </a:ext>
            </a:extLst>
          </p:cNvPr>
          <p:cNvSpPr/>
          <p:nvPr/>
        </p:nvSpPr>
        <p:spPr>
          <a:xfrm>
            <a:off x="2638594" y="3244724"/>
            <a:ext cx="1464730" cy="1464728"/>
          </a:xfrm>
          <a:prstGeom prst="ellipse">
            <a:avLst/>
          </a:prstGeom>
          <a:solidFill>
            <a:schemeClr val="accent2">
              <a:alpha val="1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16">
            <a:extLst>
              <a:ext uri="{FF2B5EF4-FFF2-40B4-BE49-F238E27FC236}">
                <a16:creationId xmlns="" xmlns:a16="http://schemas.microsoft.com/office/drawing/2014/main" id="{6F7B8CD3-367D-407A-B6EF-6847832763FB}"/>
              </a:ext>
            </a:extLst>
          </p:cNvPr>
          <p:cNvSpPr/>
          <p:nvPr/>
        </p:nvSpPr>
        <p:spPr>
          <a:xfrm>
            <a:off x="649414" y="3244724"/>
            <a:ext cx="1464730" cy="1464728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Chevron 1">
            <a:extLst>
              <a:ext uri="{FF2B5EF4-FFF2-40B4-BE49-F238E27FC236}">
                <a16:creationId xmlns="" xmlns:a16="http://schemas.microsoft.com/office/drawing/2014/main" id="{1E03A10B-40C2-429B-A1A2-7E760590AD8F}"/>
              </a:ext>
            </a:extLst>
          </p:cNvPr>
          <p:cNvSpPr/>
          <p:nvPr/>
        </p:nvSpPr>
        <p:spPr>
          <a:xfrm>
            <a:off x="613429" y="2223613"/>
            <a:ext cx="1727200" cy="381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hevron 2">
            <a:extLst>
              <a:ext uri="{FF2B5EF4-FFF2-40B4-BE49-F238E27FC236}">
                <a16:creationId xmlns="" xmlns:a16="http://schemas.microsoft.com/office/drawing/2014/main" id="{7F2E402E-66F1-4FCA-9452-07D806ACA563}"/>
              </a:ext>
            </a:extLst>
          </p:cNvPr>
          <p:cNvSpPr/>
          <p:nvPr/>
        </p:nvSpPr>
        <p:spPr>
          <a:xfrm>
            <a:off x="2587791" y="2223613"/>
            <a:ext cx="1727200" cy="3810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hevron 4">
            <a:extLst>
              <a:ext uri="{FF2B5EF4-FFF2-40B4-BE49-F238E27FC236}">
                <a16:creationId xmlns="" xmlns:a16="http://schemas.microsoft.com/office/drawing/2014/main" id="{A8DB0CA2-0AD8-40CF-9EAE-24636F6BE1A6}"/>
              </a:ext>
            </a:extLst>
          </p:cNvPr>
          <p:cNvSpPr/>
          <p:nvPr/>
        </p:nvSpPr>
        <p:spPr>
          <a:xfrm>
            <a:off x="6470188" y="2223613"/>
            <a:ext cx="1727200" cy="38100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hevron 5">
            <a:extLst>
              <a:ext uri="{FF2B5EF4-FFF2-40B4-BE49-F238E27FC236}">
                <a16:creationId xmlns="" xmlns:a16="http://schemas.microsoft.com/office/drawing/2014/main" id="{7E6ADA69-2377-458F-8AA1-32DD93A340BE}"/>
              </a:ext>
            </a:extLst>
          </p:cNvPr>
          <p:cNvSpPr/>
          <p:nvPr/>
        </p:nvSpPr>
        <p:spPr>
          <a:xfrm>
            <a:off x="8543249" y="2223613"/>
            <a:ext cx="1727200" cy="38100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9" name="Arrow: Chevron 6">
            <a:extLst>
              <a:ext uri="{FF2B5EF4-FFF2-40B4-BE49-F238E27FC236}">
                <a16:creationId xmlns="" xmlns:a16="http://schemas.microsoft.com/office/drawing/2014/main" id="{454C02BF-4E44-4F11-891A-CD23E8F1435B}"/>
              </a:ext>
            </a:extLst>
          </p:cNvPr>
          <p:cNvSpPr/>
          <p:nvPr/>
        </p:nvSpPr>
        <p:spPr>
          <a:xfrm>
            <a:off x="10280966" y="2223613"/>
            <a:ext cx="1727200" cy="381000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="" xmlns:a16="http://schemas.microsoft.com/office/drawing/2014/main" id="{CFE16D7A-B5B7-4A58-922B-115040FA32AA}"/>
              </a:ext>
            </a:extLst>
          </p:cNvPr>
          <p:cNvSpPr txBox="1"/>
          <p:nvPr/>
        </p:nvSpPr>
        <p:spPr>
          <a:xfrm>
            <a:off x="10453148" y="1515725"/>
            <a:ext cx="125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 smtClean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2015</a:t>
            </a:r>
            <a:endParaRPr lang="en-GB" sz="2400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="" xmlns:a16="http://schemas.microsoft.com/office/drawing/2014/main" id="{E2A12895-E141-47F9-9D4E-FD2BB7AFAAD7}"/>
              </a:ext>
            </a:extLst>
          </p:cNvPr>
          <p:cNvSpPr txBox="1"/>
          <p:nvPr/>
        </p:nvSpPr>
        <p:spPr>
          <a:xfrm>
            <a:off x="8715431" y="1515725"/>
            <a:ext cx="1250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b="1" dirty="0" smtClean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2008</a:t>
            </a:r>
            <a:endParaRPr lang="en-GB" sz="2800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="" xmlns:a16="http://schemas.microsoft.com/office/drawing/2014/main" id="{AD53B7D2-607F-47BC-9C37-403E42B65FA4}"/>
              </a:ext>
            </a:extLst>
          </p:cNvPr>
          <p:cNvSpPr txBox="1"/>
          <p:nvPr/>
        </p:nvSpPr>
        <p:spPr>
          <a:xfrm>
            <a:off x="6642371" y="1515725"/>
            <a:ext cx="1250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 smtClean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1999</a:t>
            </a:r>
            <a:endParaRPr lang="en-GB" sz="3200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="" xmlns:a16="http://schemas.microsoft.com/office/drawing/2014/main" id="{20295B2C-770E-492F-A954-71B35404786A}"/>
              </a:ext>
            </a:extLst>
          </p:cNvPr>
          <p:cNvSpPr txBox="1"/>
          <p:nvPr/>
        </p:nvSpPr>
        <p:spPr>
          <a:xfrm>
            <a:off x="2768440" y="1515725"/>
            <a:ext cx="1250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b="1" dirty="0" smtClean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1995</a:t>
            </a:r>
            <a:endParaRPr lang="en-GB" sz="2800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="" xmlns:a16="http://schemas.microsoft.com/office/drawing/2014/main" id="{E2BB0070-3CE1-4C59-BE93-F567DBECF5B6}"/>
              </a:ext>
            </a:extLst>
          </p:cNvPr>
          <p:cNvSpPr txBox="1"/>
          <p:nvPr/>
        </p:nvSpPr>
        <p:spPr>
          <a:xfrm>
            <a:off x="621803" y="1528977"/>
            <a:ext cx="1250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b="1" dirty="0" smtClean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1991</a:t>
            </a:r>
            <a:endParaRPr lang="en-GB" sz="2800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cxnSp>
        <p:nvCxnSpPr>
          <p:cNvPr id="25" name="Straight Connector 14">
            <a:extLst>
              <a:ext uri="{FF2B5EF4-FFF2-40B4-BE49-F238E27FC236}">
                <a16:creationId xmlns="" xmlns:a16="http://schemas.microsoft.com/office/drawing/2014/main" id="{171C13F8-8C78-4F88-AB23-F329C1824EF1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>
            <a:off x="1381779" y="2604613"/>
            <a:ext cx="0" cy="6401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2">
            <a:extLst>
              <a:ext uri="{FF2B5EF4-FFF2-40B4-BE49-F238E27FC236}">
                <a16:creationId xmlns="" xmlns:a16="http://schemas.microsoft.com/office/drawing/2014/main" id="{75281380-0B8F-4478-AA4B-78F14E648688}"/>
              </a:ext>
            </a:extLst>
          </p:cNvPr>
          <p:cNvCxnSpPr>
            <a:cxnSpLocks/>
            <a:stCxn id="16" idx="2"/>
            <a:endCxn id="8" idx="0"/>
          </p:cNvCxnSpPr>
          <p:nvPr/>
        </p:nvCxnSpPr>
        <p:spPr>
          <a:xfrm>
            <a:off x="3356141" y="2604613"/>
            <a:ext cx="14818" cy="64011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0">
            <a:extLst>
              <a:ext uri="{FF2B5EF4-FFF2-40B4-BE49-F238E27FC236}">
                <a16:creationId xmlns="" xmlns:a16="http://schemas.microsoft.com/office/drawing/2014/main" id="{15AF125C-6B80-417C-B6FD-A5DBF0D04202}"/>
              </a:ext>
            </a:extLst>
          </p:cNvPr>
          <p:cNvCxnSpPr>
            <a:cxnSpLocks/>
            <a:stCxn id="17" idx="2"/>
            <a:endCxn id="7" idx="0"/>
          </p:cNvCxnSpPr>
          <p:nvPr/>
        </p:nvCxnSpPr>
        <p:spPr>
          <a:xfrm>
            <a:off x="7238538" y="2604613"/>
            <a:ext cx="3542" cy="64011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7">
            <a:extLst>
              <a:ext uri="{FF2B5EF4-FFF2-40B4-BE49-F238E27FC236}">
                <a16:creationId xmlns="" xmlns:a16="http://schemas.microsoft.com/office/drawing/2014/main" id="{99464EDA-95F9-4BE9-8724-ED55660785EB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>
            <a:off x="9311599" y="2604613"/>
            <a:ext cx="12007" cy="640111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2">
            <a:extLst>
              <a:ext uri="{FF2B5EF4-FFF2-40B4-BE49-F238E27FC236}">
                <a16:creationId xmlns="" xmlns:a16="http://schemas.microsoft.com/office/drawing/2014/main" id="{05C0D21E-5FB2-45B7-9E65-6F790157750A}"/>
              </a:ext>
            </a:extLst>
          </p:cNvPr>
          <p:cNvCxnSpPr>
            <a:cxnSpLocks/>
            <a:stCxn id="19" idx="2"/>
            <a:endCxn id="5" idx="0"/>
          </p:cNvCxnSpPr>
          <p:nvPr/>
        </p:nvCxnSpPr>
        <p:spPr>
          <a:xfrm>
            <a:off x="11049316" y="2604613"/>
            <a:ext cx="12006" cy="640111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87">
            <a:extLst>
              <a:ext uri="{FF2B5EF4-FFF2-40B4-BE49-F238E27FC236}">
                <a16:creationId xmlns="" xmlns:a16="http://schemas.microsoft.com/office/drawing/2014/main" id="{CCCA0B48-8F06-426C-B056-AAAE9B66B34D}"/>
              </a:ext>
            </a:extLst>
          </p:cNvPr>
          <p:cNvSpPr txBox="1"/>
          <p:nvPr/>
        </p:nvSpPr>
        <p:spPr>
          <a:xfrm>
            <a:off x="706193" y="4925755"/>
            <a:ext cx="863600" cy="37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  <a:defRPr/>
            </a:pPr>
            <a:r>
              <a:rPr lang="fr-FR" sz="1400" kern="1200" dirty="0">
                <a:latin typeface="Open Sans" panose="020B0606030504020204" pitchFamily="34" charset="0"/>
              </a:rPr>
              <a:t>HTML 1</a:t>
            </a:r>
          </a:p>
        </p:txBody>
      </p:sp>
      <p:sp>
        <p:nvSpPr>
          <p:cNvPr id="60" name="TextBox 88">
            <a:extLst>
              <a:ext uri="{FF2B5EF4-FFF2-40B4-BE49-F238E27FC236}">
                <a16:creationId xmlns="" xmlns:a16="http://schemas.microsoft.com/office/drawing/2014/main" id="{49EDD08E-9ECE-482B-BACD-CA47316459C3}"/>
              </a:ext>
            </a:extLst>
          </p:cNvPr>
          <p:cNvSpPr txBox="1"/>
          <p:nvPr/>
        </p:nvSpPr>
        <p:spPr>
          <a:xfrm>
            <a:off x="2592421" y="4925755"/>
            <a:ext cx="1612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defRPr/>
            </a:pPr>
            <a:r>
              <a:rPr lang="fr-FR" sz="1200" kern="1200" dirty="0">
                <a:latin typeface="Open Sans" panose="020B0606030504020204" pitchFamily="34" charset="0"/>
              </a:rPr>
              <a:t>HTML 2.0 + JavaScript + Internet </a:t>
            </a:r>
            <a:r>
              <a:rPr lang="fr-FR" sz="1200" kern="1200" dirty="0" smtClean="0">
                <a:latin typeface="Open Sans" panose="020B0606030504020204" pitchFamily="34" charset="0"/>
              </a:rPr>
              <a:t>Explorer 1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1" name="TextBox 89">
            <a:extLst>
              <a:ext uri="{FF2B5EF4-FFF2-40B4-BE49-F238E27FC236}">
                <a16:creationId xmlns="" xmlns:a16="http://schemas.microsoft.com/office/drawing/2014/main" id="{B3FE5EF8-4EAA-466F-B7F2-12EF765EAF4C}"/>
              </a:ext>
            </a:extLst>
          </p:cNvPr>
          <p:cNvSpPr txBox="1"/>
          <p:nvPr/>
        </p:nvSpPr>
        <p:spPr>
          <a:xfrm>
            <a:off x="6821036" y="4909977"/>
            <a:ext cx="918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Open Sans" panose="020B0606030504020204" pitchFamily="34" charset="0"/>
              </a:rPr>
              <a:t>HTML 4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2" name="TextBox 90">
            <a:extLst>
              <a:ext uri="{FF2B5EF4-FFF2-40B4-BE49-F238E27FC236}">
                <a16:creationId xmlns="" xmlns:a16="http://schemas.microsoft.com/office/drawing/2014/main" id="{C968B231-2E26-409A-82D8-729D18EAAEF7}"/>
              </a:ext>
            </a:extLst>
          </p:cNvPr>
          <p:cNvSpPr txBox="1"/>
          <p:nvPr/>
        </p:nvSpPr>
        <p:spPr>
          <a:xfrm>
            <a:off x="8962404" y="4891361"/>
            <a:ext cx="871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Open Sans" panose="020B0606030504020204" pitchFamily="34" charset="0"/>
              </a:rPr>
              <a:t>HTML 5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3" name="TextBox 91">
            <a:extLst>
              <a:ext uri="{FF2B5EF4-FFF2-40B4-BE49-F238E27FC236}">
                <a16:creationId xmlns="" xmlns:a16="http://schemas.microsoft.com/office/drawing/2014/main" id="{520B954E-D7BC-4F07-B9C2-D6F96678DBA4}"/>
              </a:ext>
            </a:extLst>
          </p:cNvPr>
          <p:cNvSpPr txBox="1"/>
          <p:nvPr/>
        </p:nvSpPr>
        <p:spPr>
          <a:xfrm>
            <a:off x="10745591" y="4925755"/>
            <a:ext cx="1035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Open Sans" panose="020B0606030504020204" pitchFamily="34" charset="0"/>
              </a:rPr>
              <a:t>HTML 5.3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4" name="Oval 31">
            <a:extLst>
              <a:ext uri="{FF2B5EF4-FFF2-40B4-BE49-F238E27FC236}">
                <a16:creationId xmlns="" xmlns:a16="http://schemas.microsoft.com/office/drawing/2014/main" id="{B2C64199-8920-4B40-9E97-B69DDABC62D8}"/>
              </a:ext>
            </a:extLst>
          </p:cNvPr>
          <p:cNvSpPr/>
          <p:nvPr/>
        </p:nvSpPr>
        <p:spPr>
          <a:xfrm>
            <a:off x="4369519" y="3238100"/>
            <a:ext cx="1464730" cy="1464728"/>
          </a:xfrm>
          <a:prstGeom prst="ellipse">
            <a:avLst/>
          </a:prstGeom>
          <a:solidFill>
            <a:schemeClr val="accent4">
              <a:alpha val="1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Chevron 4">
            <a:extLst>
              <a:ext uri="{FF2B5EF4-FFF2-40B4-BE49-F238E27FC236}">
                <a16:creationId xmlns="" xmlns:a16="http://schemas.microsoft.com/office/drawing/2014/main" id="{A8DB0CA2-0AD8-40CF-9EAE-24636F6BE1A6}"/>
              </a:ext>
            </a:extLst>
          </p:cNvPr>
          <p:cNvSpPr/>
          <p:nvPr/>
        </p:nvSpPr>
        <p:spPr>
          <a:xfrm>
            <a:off x="4329992" y="2216989"/>
            <a:ext cx="1727200" cy="38100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TextBox 10">
            <a:extLst>
              <a:ext uri="{FF2B5EF4-FFF2-40B4-BE49-F238E27FC236}">
                <a16:creationId xmlns="" xmlns:a16="http://schemas.microsoft.com/office/drawing/2014/main" id="{AD53B7D2-607F-47BC-9C37-403E42B65FA4}"/>
              </a:ext>
            </a:extLst>
          </p:cNvPr>
          <p:cNvSpPr txBox="1"/>
          <p:nvPr/>
        </p:nvSpPr>
        <p:spPr>
          <a:xfrm>
            <a:off x="4502175" y="1509101"/>
            <a:ext cx="1250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 smtClean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1997</a:t>
            </a:r>
            <a:endParaRPr lang="en-GB" sz="3200" b="1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cxnSp>
        <p:nvCxnSpPr>
          <p:cNvPr id="72" name="Straight Connector 30">
            <a:extLst>
              <a:ext uri="{FF2B5EF4-FFF2-40B4-BE49-F238E27FC236}">
                <a16:creationId xmlns="" xmlns:a16="http://schemas.microsoft.com/office/drawing/2014/main" id="{15AF125C-6B80-417C-B6FD-A5DBF0D04202}"/>
              </a:ext>
            </a:extLst>
          </p:cNvPr>
          <p:cNvCxnSpPr>
            <a:cxnSpLocks/>
            <a:stCxn id="70" idx="2"/>
            <a:endCxn id="64" idx="0"/>
          </p:cNvCxnSpPr>
          <p:nvPr/>
        </p:nvCxnSpPr>
        <p:spPr>
          <a:xfrm>
            <a:off x="5098342" y="2597989"/>
            <a:ext cx="3542" cy="64011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89">
            <a:extLst>
              <a:ext uri="{FF2B5EF4-FFF2-40B4-BE49-F238E27FC236}">
                <a16:creationId xmlns="" xmlns:a16="http://schemas.microsoft.com/office/drawing/2014/main" id="{B3FE5EF8-4EAA-466F-B7F2-12EF765EAF4C}"/>
              </a:ext>
            </a:extLst>
          </p:cNvPr>
          <p:cNvSpPr txBox="1"/>
          <p:nvPr/>
        </p:nvSpPr>
        <p:spPr>
          <a:xfrm>
            <a:off x="4646314" y="4925755"/>
            <a:ext cx="101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Open Sans" panose="020B0606030504020204" pitchFamily="34" charset="0"/>
              </a:rPr>
              <a:t>HTML 3.2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00" y="3471719"/>
            <a:ext cx="1020958" cy="1020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148" y="3501516"/>
            <a:ext cx="1027439" cy="1027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415" y="3369782"/>
            <a:ext cx="1202690" cy="120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313" y="3503181"/>
            <a:ext cx="880869" cy="880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691" y="3528467"/>
            <a:ext cx="883693" cy="883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940" y="3420812"/>
            <a:ext cx="1045605" cy="1045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823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238598"/>
            <a:ext cx="744874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Editors and Browsers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85660" y="1315705"/>
            <a:ext cx="10582687" cy="1227217"/>
          </a:xfrm>
          <a:prstGeom prst="rect">
            <a:avLst/>
          </a:prstGeom>
          <a:noFill/>
        </p:spPr>
        <p:txBody>
          <a:bodyPr wrap="square" lIns="118067" tIns="59034" rIns="118067" bIns="59034" rtlCol="0">
            <a:spAutoFit/>
          </a:bodyPr>
          <a:lstStyle/>
          <a:p>
            <a:pPr marL="590337" indent="-590337" algn="just">
              <a:buFont typeface="Wingdings" panose="05000000000000000000" pitchFamily="2" charset="2"/>
              <a:buChar char="ü"/>
            </a:pPr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590337" indent="-590337" algn="just">
              <a:buFont typeface="Wingdings" panose="05000000000000000000" pitchFamily="2" charset="2"/>
              <a:buChar char="ü"/>
            </a:pPr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2805" y="1146021"/>
            <a:ext cx="3510249" cy="5054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ctr"/>
            <a:endParaRPr lang="en-US" sz="5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52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52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5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52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Need to Start?</a:t>
            </a:r>
            <a:endParaRPr lang="en-US" sz="5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3046" y="1146021"/>
            <a:ext cx="7475808" cy="5054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r>
              <a:rPr lang="fr-FR" sz="3600" b="1" kern="1200" spc="-13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Web Browser:</a:t>
            </a:r>
          </a:p>
          <a:p>
            <a:pPr algn="just"/>
            <a:endParaRPr lang="fr-FR" sz="3600" b="1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b="1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b="1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r>
              <a:rPr lang="fr-FR" sz="3600" b="1" kern="1200" spc="-13" dirty="0" err="1" smtClean="0">
                <a:solidFill>
                  <a:schemeClr val="tx1"/>
                </a:solidFill>
                <a:latin typeface="Microsoft Sans Serif"/>
                <a:cs typeface="Microsoft Sans Serif"/>
              </a:rPr>
              <a:t>Text</a:t>
            </a:r>
            <a:r>
              <a:rPr lang="fr-FR" sz="3600" b="1" kern="1200" spc="-13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 Editor: </a:t>
            </a:r>
          </a:p>
          <a:p>
            <a:pPr marL="590337" indent="-590337" algn="just">
              <a:buFont typeface="Arial" panose="020B0604020202020204" pitchFamily="34" charset="0"/>
              <a:buChar char="•"/>
            </a:pPr>
            <a:endParaRPr lang="en-US" sz="31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590337" indent="-590337" algn="just">
              <a:buFont typeface="Wingdings" panose="05000000000000000000" pitchFamily="2" charset="2"/>
              <a:buChar char="ü"/>
            </a:pPr>
            <a:endParaRPr lang="en-US" sz="31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590337" indent="-590337" algn="just">
              <a:buFont typeface="Wingdings" panose="05000000000000000000" pitchFamily="2" charset="2"/>
              <a:buChar char="ü"/>
            </a:pPr>
            <a:endParaRPr lang="en-US" sz="31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122" name="Picture 2" descr="C:\Users\Noura\Desktop\Horizon_cours\Web_development_Course 2025\téléchargem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184" y="5136446"/>
            <a:ext cx="1413489" cy="112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Noura\Desktop\Horizon_cours\Web_development_Course 2025\imag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349" y="5157143"/>
            <a:ext cx="2034933" cy="104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Noura\Desktop\Horizon_cours\Web_development_Course 2025\chr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1281" y="892636"/>
            <a:ext cx="846138" cy="84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Noura\Desktop\Horizon_cours\Web_development_Course 2025\fire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803" y="2827002"/>
            <a:ext cx="846138" cy="84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:\Users\Noura\Desktop\Horizon_cours\Web_development_Course 2025\sublime.jpe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903" y="5157143"/>
            <a:ext cx="1043689" cy="104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C:\Users\Noura\Desktop\Horizon_cours\Web_development_Course 2025\saf.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297" y="2094270"/>
            <a:ext cx="847249" cy="79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78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238598"/>
            <a:ext cx="442708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: </a:t>
            </a:r>
            <a:r>
              <a:rPr lang="fr-FR" sz="4200" b="1" dirty="0" err="1" smtClean="0">
                <a:solidFill>
                  <a:srgbClr val="044389"/>
                </a:solidFill>
              </a:rPr>
              <a:t>Example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518686" y="4588278"/>
            <a:ext cx="3615825" cy="1104106"/>
          </a:xfrm>
          <a:prstGeom prst="rect">
            <a:avLst/>
          </a:prstGeom>
          <a:noFill/>
        </p:spPr>
        <p:txBody>
          <a:bodyPr wrap="square" lIns="118067" tIns="59034" rIns="118067" bIns="59034" rtlCol="0">
            <a:spAutoFit/>
          </a:bodyPr>
          <a:lstStyle/>
          <a:p>
            <a:pPr algn="ctr"/>
            <a:r>
              <a:rPr lang="fr-FR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fr-FR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index.html</a:t>
            </a:r>
            <a:endParaRPr lang="en-US" sz="32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8426" y="1146021"/>
            <a:ext cx="11350428" cy="50542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3600" b="1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en-US" sz="3600" b="1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en-US" sz="3600" b="1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en-US" sz="3600" b="1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en-US" sz="3600" b="1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en-US" sz="3600" b="1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590337" indent="-590337" algn="just">
              <a:buFont typeface="Arial" panose="020B0604020202020204" pitchFamily="34" charset="0"/>
              <a:buChar char="•"/>
            </a:pPr>
            <a:endParaRPr lang="en-US" sz="31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62" y="1146022"/>
            <a:ext cx="5652134" cy="277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069496" y="1004150"/>
            <a:ext cx="6120917" cy="5582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Files must end </a:t>
            </a: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with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the .html  extension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Does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NOT </a:t>
            </a: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need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a server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Runs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in a web browser(Chrome, Firefox, </a:t>
            </a: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etc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).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index.html </a:t>
            </a: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is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the </a:t>
            </a: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root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/home page of a </a:t>
            </a:r>
            <a:r>
              <a:rPr lang="fr-FR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website</a:t>
            </a:r>
            <a:r>
              <a:rPr lang="fr-FR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74048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7060820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Structure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69496" y="1278543"/>
            <a:ext cx="6120917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&lt;!DOCTYPE html</a:t>
            </a:r>
            <a:r>
              <a:rPr lang="en-US" sz="3200" b="1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&gt;: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&lt;!DOCTYPE html&gt; is a declaration (not a tag) that appears at the top of every HTML5 document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It tells the browser that the page uses HTML5 syntax and follows the HTML5 standard.</a:t>
            </a:r>
          </a:p>
          <a:p>
            <a:pPr marL="571500" indent="-5715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1146020"/>
            <a:ext cx="5198834" cy="380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1146021"/>
            <a:ext cx="5198834" cy="380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92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7060820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Structure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38891" y="1146021"/>
            <a:ext cx="5689964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&lt;html&gt;&lt;/</a:t>
            </a:r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html&gt;</a:t>
            </a:r>
          </a:p>
          <a:p>
            <a:endParaRPr lang="en-US" sz="40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root element of an HTML document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Its presence is required in every page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contains all the content of the page (except &lt;!DOCTYPE html&gt;).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18" y="1166599"/>
            <a:ext cx="5589073" cy="4139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93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9305025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: header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56904" y="1146021"/>
            <a:ext cx="6571952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>
              <a:lnSpc>
                <a:spcPct val="150000"/>
              </a:lnSpc>
            </a:pPr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&lt;head&gt;&lt;/head&gt;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info not shown to users.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Its presence is required in every page.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 tags (charset, description, author, viewport)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CSS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JS links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1292811"/>
            <a:ext cx="4572000" cy="4006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21635" y="5805964"/>
            <a:ext cx="106088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It helps browsers, search engines, and external tools understand the </a:t>
            </a:r>
            <a:r>
              <a:rPr lang="en-US" sz="2200" dirty="0" err="1">
                <a:solidFill>
                  <a:srgbClr val="FF0000"/>
                </a:solidFill>
              </a:rPr>
              <a:t>page</a:t>
            </a:r>
            <a:r>
              <a:rPr lang="en-US" sz="2200" dirty="0" err="1" smtClean="0">
                <a:solidFill>
                  <a:srgbClr val="FF0000"/>
                </a:solidFill>
              </a:rPr>
              <a:t>.</a:t>
            </a:r>
            <a:r>
              <a:rPr lang="en-US" sz="2200" dirty="0" err="1">
                <a:solidFill>
                  <a:srgbClr val="FF0000"/>
                </a:solidFill>
                <a:sym typeface="Wingdings" panose="05000000000000000000" pitchFamily="2" charset="2"/>
              </a:rPr>
              <a:t>Good</a:t>
            </a:r>
            <a:r>
              <a:rPr lang="en-US" sz="2200" dirty="0">
                <a:solidFill>
                  <a:srgbClr val="FF0000"/>
                </a:solidFill>
                <a:sym typeface="Wingdings" panose="05000000000000000000" pitchFamily="2" charset="2"/>
              </a:rPr>
              <a:t> metadata helps your page appear higher in search results and with a clearer description.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22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9305025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: header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8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56901" y="904257"/>
            <a:ext cx="6571952" cy="3203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&lt;meta&gt;</a:t>
            </a:r>
          </a:p>
          <a:p>
            <a:pPr marL="571500" indent="-5715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metadata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 information) 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the page for browsers, search engines, and external tools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Placed inside &lt;head&gt; and not visible on the page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72062"/>
              </p:ext>
            </p:extLst>
          </p:nvPr>
        </p:nvGraphicFramePr>
        <p:xfrm>
          <a:off x="648929" y="4554583"/>
          <a:ext cx="10971213" cy="195072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3657071"/>
                <a:gridCol w="3657071"/>
                <a:gridCol w="3657071"/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Tag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Example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/>
                        <a:t>&lt;meta charset="UTF-8"&gt;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Defines character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&lt;meta charset="UTF-8"&gt;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/>
                        <a:t>&lt;meta name="author" content="John Doe"&gt;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Page 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&lt;meta name="author" content</a:t>
                      </a:r>
                      <a:r>
                        <a:rPr lang="en-US" sz="1400" dirty="0" smtClean="0"/>
                        <a:t>=“Leo"&gt;</a:t>
                      </a:r>
                      <a:endParaRPr lang="en-US" sz="1400" dirty="0"/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/>
                        <a:t>&lt;meta name="keywords" content="HTML5, CSS, JS"&gt;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SEO 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&lt;meta name="keywords" content="HTML5, CSS, JS"&gt;</a:t>
                      </a: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/>
                        <a:t>&lt;meta name="description" content="HTML5 basic structure"&gt;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SEO page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&lt;meta name="description" content="HTML5 basic structure"&gt;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00" y="871418"/>
            <a:ext cx="3538758" cy="310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52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9305025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: header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8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56901" y="1709525"/>
            <a:ext cx="6571952" cy="3763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&lt;link&gt;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external CSS file to an HTML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Inside the &lt;head&gt; section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 : 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	</a:t>
            </a:r>
            <a:r>
              <a:rPr lang="en-US" sz="2800" dirty="0" err="1" smtClean="0">
                <a:solidFill>
                  <a:schemeClr val="tx1"/>
                </a:solidFill>
              </a:rPr>
              <a:t>rel</a:t>
            </a:r>
            <a:r>
              <a:rPr lang="en-US" sz="2800" dirty="0">
                <a:solidFill>
                  <a:schemeClr val="tx1"/>
                </a:solidFill>
              </a:rPr>
              <a:t>="stylesheet" → defines relationship type.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</a:rPr>
              <a:t>	</a:t>
            </a:r>
            <a:r>
              <a:rPr lang="en-US" sz="2800" dirty="0" err="1" smtClean="0">
                <a:solidFill>
                  <a:schemeClr val="tx1"/>
                </a:solidFill>
              </a:rPr>
              <a:t>href</a:t>
            </a:r>
            <a:r>
              <a:rPr lang="en-US" sz="2800" dirty="0">
                <a:solidFill>
                  <a:schemeClr val="tx1"/>
                </a:solidFill>
              </a:rPr>
              <a:t>="style.css" → specifies the path to the CSS file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68" y="1159271"/>
            <a:ext cx="4794515" cy="362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0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738943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8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05209" y="1792151"/>
            <a:ext cx="6571952" cy="3203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&lt;script&gt;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JavaScript file to add interactivity to a web page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Usually before &lt;/body&gt; to ensure the page loads first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="script.js" → specifies the path to the JavaScript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7" y="1370566"/>
            <a:ext cx="4885981" cy="428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0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9305025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: header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56904" y="1146021"/>
            <a:ext cx="6571952" cy="41339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&lt;title&gt;&lt;/title&gt;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Defines the title of the web page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Appears in the browser tab and search engine results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be placed inside the &lt;head&gt; element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64" y="1263419"/>
            <a:ext cx="4513874" cy="3899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13" y="4997657"/>
            <a:ext cx="354668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Virage 8"/>
          <p:cNvSpPr/>
          <p:nvPr/>
        </p:nvSpPr>
        <p:spPr>
          <a:xfrm flipV="1">
            <a:off x="3469078" y="4625007"/>
            <a:ext cx="2467896" cy="1696279"/>
          </a:xfrm>
          <a:prstGeom prst="bentArrow">
            <a:avLst>
              <a:gd name="adj1" fmla="val 9375"/>
              <a:gd name="adj2" fmla="val 21484"/>
              <a:gd name="adj3" fmla="val 24219"/>
              <a:gd name="adj4" fmla="val 87500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1374" y="4939954"/>
            <a:ext cx="1693564" cy="533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897320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: body 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55194" y="1146021"/>
            <a:ext cx="7162947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40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&lt;body&gt;&lt;/body&gt;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 all the content visible to users on the web page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be present in every HTML document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 content: headings, paragraphs, images, links, lists, forms, etc.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22" y="1101483"/>
            <a:ext cx="4350774" cy="406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633" y="5183188"/>
            <a:ext cx="31337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Virage 8"/>
          <p:cNvSpPr/>
          <p:nvPr/>
        </p:nvSpPr>
        <p:spPr>
          <a:xfrm flipV="1">
            <a:off x="3084770" y="4863543"/>
            <a:ext cx="2467896" cy="1696279"/>
          </a:xfrm>
          <a:prstGeom prst="bentArrow">
            <a:avLst>
              <a:gd name="adj1" fmla="val 9375"/>
              <a:gd name="adj2" fmla="val 21484"/>
              <a:gd name="adj3" fmla="val 24219"/>
              <a:gd name="adj4" fmla="val 87500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15633" y="6323842"/>
            <a:ext cx="1693564" cy="535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7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20614"/>
            <a:ext cx="10946500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Structure of </a:t>
            </a:r>
            <a:r>
              <a:rPr lang="fr-FR" sz="4200" b="1" dirty="0">
                <a:solidFill>
                  <a:srgbClr val="044389"/>
                </a:solidFill>
              </a:rPr>
              <a:t>HTML Tag: Main components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782695"/>
              </p:ext>
            </p:extLst>
          </p:nvPr>
        </p:nvGraphicFramePr>
        <p:xfrm>
          <a:off x="2013531" y="3775571"/>
          <a:ext cx="8126943" cy="131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81"/>
                <a:gridCol w="2708981"/>
                <a:gridCol w="2708981"/>
              </a:tblGrid>
              <a:tr h="131260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pPr algn="l"/>
                      <a:r>
                        <a:rPr lang="en-US" sz="3600" dirty="0" smtClean="0"/>
                        <a:t>     &lt;p&gt;</a:t>
                      </a:r>
                      <a:endParaRPr lang="en-US" sz="3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pPr algn="ctr"/>
                      <a:r>
                        <a:rPr lang="en-US" sz="2000" dirty="0" smtClean="0"/>
                        <a:t>Hello World!</a:t>
                      </a:r>
                      <a:endParaRPr 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&lt;/p&gt;</a:t>
                      </a:r>
                      <a:endParaRPr lang="en-US" sz="36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Accolade fermante 4"/>
          <p:cNvSpPr/>
          <p:nvPr/>
        </p:nvSpPr>
        <p:spPr>
          <a:xfrm rot="16200000">
            <a:off x="5773513" y="2248285"/>
            <a:ext cx="620397" cy="24039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colade fermante 8"/>
          <p:cNvSpPr/>
          <p:nvPr/>
        </p:nvSpPr>
        <p:spPr>
          <a:xfrm rot="5400000">
            <a:off x="2829232" y="4487235"/>
            <a:ext cx="884903" cy="24039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colade fermante 9"/>
          <p:cNvSpPr/>
          <p:nvPr/>
        </p:nvSpPr>
        <p:spPr>
          <a:xfrm rot="5400000">
            <a:off x="8335299" y="4487236"/>
            <a:ext cx="884903" cy="24039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544960" y="2752811"/>
            <a:ext cx="115080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Content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31452" y="6201789"/>
            <a:ext cx="1421479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just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Opening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tag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17509" y="6187461"/>
            <a:ext cx="1320490" cy="36933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just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Closing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tag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67337" y="2834241"/>
            <a:ext cx="1959321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Element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</a:t>
            </a:r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name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>
            <a:off x="2300748" y="3275361"/>
            <a:ext cx="825910" cy="11254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ccolade fermante 13"/>
          <p:cNvSpPr/>
          <p:nvPr/>
        </p:nvSpPr>
        <p:spPr>
          <a:xfrm rot="16200000">
            <a:off x="5309419" y="-1988483"/>
            <a:ext cx="884903" cy="8760545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72209" y="1408563"/>
            <a:ext cx="1959321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Element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92274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6041311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Structure of HTML </a:t>
            </a:r>
            <a:r>
              <a:rPr lang="fr-FR" sz="4200" b="1" dirty="0" smtClean="0">
                <a:solidFill>
                  <a:srgbClr val="044389"/>
                </a:solidFill>
              </a:rPr>
              <a:t>Tag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55305"/>
              </p:ext>
            </p:extLst>
          </p:nvPr>
        </p:nvGraphicFramePr>
        <p:xfrm>
          <a:off x="656715" y="2949683"/>
          <a:ext cx="2708981" cy="131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81"/>
              </a:tblGrid>
              <a:tr h="131260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&lt;</a:t>
                      </a:r>
                      <a:r>
                        <a:rPr lang="en-US" sz="36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br</a:t>
                      </a:r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sz="36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9" name="Accolade fermante 8"/>
          <p:cNvSpPr/>
          <p:nvPr/>
        </p:nvSpPr>
        <p:spPr>
          <a:xfrm rot="5400000">
            <a:off x="1605152" y="3676079"/>
            <a:ext cx="884903" cy="24039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colade fermante 9"/>
          <p:cNvSpPr/>
          <p:nvPr/>
        </p:nvSpPr>
        <p:spPr>
          <a:xfrm rot="5400000">
            <a:off x="10165909" y="3642950"/>
            <a:ext cx="884903" cy="24039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6254" y="5530230"/>
            <a:ext cx="2463344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Only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</a:t>
            </a:r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opening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tag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532246" y="5534083"/>
            <a:ext cx="2151422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Only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</a:t>
            </a:r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opening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tag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231963"/>
              </p:ext>
            </p:extLst>
          </p:nvPr>
        </p:nvGraphicFramePr>
        <p:xfrm>
          <a:off x="9040524" y="2948138"/>
          <a:ext cx="2708981" cy="131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81"/>
              </a:tblGrid>
              <a:tr h="131260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&lt;</a:t>
                      </a:r>
                      <a:r>
                        <a:rPr lang="en-US" sz="36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hr</a:t>
                      </a:r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sz="36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eur droit 18"/>
          <p:cNvCxnSpPr/>
          <p:nvPr/>
        </p:nvCxnSpPr>
        <p:spPr>
          <a:xfrm>
            <a:off x="934097" y="1902542"/>
            <a:ext cx="951516" cy="1303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9900" y="1444722"/>
            <a:ext cx="1959321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Line Break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cxnSp>
        <p:nvCxnSpPr>
          <p:cNvPr id="22" name="Connecteur droit 21"/>
          <p:cNvCxnSpPr/>
          <p:nvPr/>
        </p:nvCxnSpPr>
        <p:spPr>
          <a:xfrm flipH="1">
            <a:off x="10208410" y="1902542"/>
            <a:ext cx="970831" cy="14118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051012" y="1468690"/>
            <a:ext cx="1959321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Horizontal  </a:t>
            </a:r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Rule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27" name="Tableau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54212"/>
              </p:ext>
            </p:extLst>
          </p:nvPr>
        </p:nvGraphicFramePr>
        <p:xfrm>
          <a:off x="4628847" y="2954603"/>
          <a:ext cx="2708981" cy="131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81"/>
              </a:tblGrid>
              <a:tr h="131260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&lt;</a:t>
                      </a:r>
                      <a:r>
                        <a:rPr lang="en-US" sz="36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img</a:t>
                      </a:r>
                      <a:r>
                        <a:rPr lang="en-US" sz="36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sz="36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8" name="Accolade fermante 27"/>
          <p:cNvSpPr/>
          <p:nvPr/>
        </p:nvSpPr>
        <p:spPr>
          <a:xfrm rot="5400000">
            <a:off x="5636276" y="3680999"/>
            <a:ext cx="884903" cy="24039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817378" y="5535150"/>
            <a:ext cx="2463344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Only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</a:t>
            </a:r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opening</a:t>
            </a:r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tag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cxnSp>
        <p:nvCxnSpPr>
          <p:cNvPr id="30" name="Connecteur droit 29"/>
          <p:cNvCxnSpPr/>
          <p:nvPr/>
        </p:nvCxnSpPr>
        <p:spPr>
          <a:xfrm>
            <a:off x="5790060" y="1907462"/>
            <a:ext cx="52937" cy="1303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60732" y="1449642"/>
            <a:ext cx="1959321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Image 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20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04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2929882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&lt;</a:t>
            </a:r>
            <a:r>
              <a:rPr lang="fr-FR" sz="4200" b="1" dirty="0" err="1" smtClean="0">
                <a:solidFill>
                  <a:srgbClr val="044389"/>
                </a:solidFill>
              </a:rPr>
              <a:t>img</a:t>
            </a:r>
            <a:r>
              <a:rPr lang="fr-FR" sz="4200" b="1" dirty="0" smtClean="0">
                <a:solidFill>
                  <a:srgbClr val="044389"/>
                </a:solidFill>
              </a:rPr>
              <a:t>&gt; Tag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4" y="1146021"/>
            <a:ext cx="11630649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indent="-5715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display images on a webpage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a container tag → does not have a closing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tag</a:t>
            </a:r>
          </a:p>
          <a:p>
            <a:pPr marL="571500" indent="-5715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attributes: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path to the image file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alt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text shown if image cannot be displayed (important for accessibility and SEO)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width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height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size of the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Browsers support common image formats such as JPEG, GIF, PNG, SVG, and BMP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kern="1200" spc="-13" dirty="0">
                <a:solidFill>
                  <a:srgbClr val="FF0000"/>
                </a:solidFill>
                <a:latin typeface="Microsoft Sans Serif"/>
                <a:cs typeface="Microsoft Sans Serif"/>
              </a:rPr>
              <a:t>&lt;</a:t>
            </a:r>
            <a:r>
              <a:rPr lang="en-US" sz="2800" kern="1200" spc="-13" dirty="0" err="1">
                <a:solidFill>
                  <a:srgbClr val="FF0000"/>
                </a:solidFill>
                <a:latin typeface="Microsoft Sans Serif"/>
                <a:cs typeface="Microsoft Sans Serif"/>
              </a:rPr>
              <a:t>img</a:t>
            </a:r>
            <a:r>
              <a:rPr lang="en-US" sz="2800" kern="1200" spc="-13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800" kern="1200" spc="-13" dirty="0" err="1">
                <a:solidFill>
                  <a:srgbClr val="00B050"/>
                </a:solidFill>
                <a:latin typeface="Microsoft Sans Serif"/>
                <a:cs typeface="Microsoft Sans Serif"/>
              </a:rPr>
              <a:t>src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="</a:t>
            </a:r>
            <a:r>
              <a:rPr lang="en-US" sz="2800" kern="1200" spc="-13" dirty="0">
                <a:solidFill>
                  <a:srgbClr val="FFC000"/>
                </a:solidFill>
                <a:latin typeface="Microsoft Sans Serif"/>
                <a:cs typeface="Microsoft Sans Serif"/>
              </a:rPr>
              <a:t>cat.jpg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" </a:t>
            </a:r>
            <a:r>
              <a:rPr lang="en-US" sz="2800" kern="1200" spc="-13" dirty="0">
                <a:solidFill>
                  <a:srgbClr val="00B050"/>
                </a:solidFill>
                <a:latin typeface="Microsoft Sans Serif"/>
                <a:cs typeface="Microsoft Sans Serif"/>
              </a:rPr>
              <a:t>alt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="</a:t>
            </a:r>
            <a:r>
              <a:rPr lang="en-US" sz="2800" kern="1200" spc="-13" dirty="0">
                <a:solidFill>
                  <a:srgbClr val="FFC000"/>
                </a:solidFill>
                <a:latin typeface="Microsoft Sans Serif"/>
                <a:cs typeface="Microsoft Sans Serif"/>
              </a:rPr>
              <a:t>A cute cat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" </a:t>
            </a:r>
            <a:r>
              <a:rPr lang="en-US" sz="2800" kern="1200" spc="-13" dirty="0">
                <a:solidFill>
                  <a:srgbClr val="00B050"/>
                </a:solidFill>
                <a:latin typeface="Microsoft Sans Serif"/>
                <a:cs typeface="Microsoft Sans Serif"/>
              </a:rPr>
              <a:t>width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="</a:t>
            </a:r>
            <a:r>
              <a:rPr lang="en-US" sz="2800" kern="1200" spc="-13" dirty="0">
                <a:solidFill>
                  <a:srgbClr val="FFC000"/>
                </a:solidFill>
                <a:latin typeface="Microsoft Sans Serif"/>
                <a:cs typeface="Microsoft Sans Serif"/>
              </a:rPr>
              <a:t>150px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" height="</a:t>
            </a:r>
            <a:r>
              <a:rPr lang="en-US" sz="2800" kern="1200" spc="-13" dirty="0">
                <a:solidFill>
                  <a:srgbClr val="FFC000"/>
                </a:solidFill>
                <a:latin typeface="Microsoft Sans Serif"/>
                <a:cs typeface="Microsoft Sans Serif"/>
              </a:rPr>
              <a:t>100px</a:t>
            </a:r>
            <a:r>
              <a:rPr lang="en-US" sz="28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"&gt;</a:t>
            </a:r>
          </a:p>
          <a:p>
            <a:pPr algn="just"/>
            <a:endParaRPr lang="en-US" sz="28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42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4516855" cy="1411883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Tags : </a:t>
            </a:r>
            <a:r>
              <a:rPr lang="fr-FR" sz="4200" b="1" dirty="0" err="1" smtClean="0">
                <a:solidFill>
                  <a:srgbClr val="044389"/>
                </a:solidFill>
              </a:rPr>
              <a:t>Attributes</a:t>
            </a:r>
            <a:endParaRPr lang="en-US" sz="4200" b="1" dirty="0">
              <a:solidFill>
                <a:srgbClr val="044389"/>
              </a:solidFill>
            </a:endParaRPr>
          </a:p>
          <a:p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2805" y="1146021"/>
            <a:ext cx="11456049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</a:t>
            </a:r>
            <a:r>
              <a:rPr lang="en-US" sz="52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&lt;a&gt; </a:t>
            </a:r>
            <a:r>
              <a:rPr lang="en-US" sz="5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tag with </a:t>
            </a:r>
            <a:r>
              <a:rPr lang="en-US" sz="52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</a:t>
            </a:r>
          </a:p>
          <a:p>
            <a:r>
              <a:rPr lang="en-US" sz="2700" kern="1200" spc="-13" dirty="0">
                <a:solidFill>
                  <a:srgbClr val="FF0000"/>
                </a:solidFill>
                <a:latin typeface="Microsoft Sans Serif"/>
                <a:cs typeface="Microsoft Sans Serif"/>
              </a:rPr>
              <a:t>&lt;a </a:t>
            </a:r>
            <a:r>
              <a:rPr lang="en-US" sz="2700" kern="1200" spc="-13" dirty="0" err="1">
                <a:solidFill>
                  <a:srgbClr val="00B050"/>
                </a:solidFill>
                <a:latin typeface="Microsoft Sans Serif"/>
                <a:cs typeface="Microsoft Sans Serif"/>
              </a:rPr>
              <a:t>href</a:t>
            </a:r>
            <a:r>
              <a:rPr lang="en-US" sz="2700" kern="1200" spc="-13" dirty="0">
                <a:solidFill>
                  <a:schemeClr val="tx1"/>
                </a:solidFill>
                <a:latin typeface="Microsoft Sans Serif"/>
                <a:cs typeface="Microsoft Sans Serif"/>
              </a:rPr>
              <a:t>="</a:t>
            </a:r>
            <a:r>
              <a:rPr lang="en-US" sz="2700" kern="1200" spc="-13" dirty="0">
                <a:solidFill>
                  <a:srgbClr val="FFC000"/>
                </a:solidFill>
                <a:latin typeface="Microsoft Sans Serif"/>
                <a:cs typeface="Microsoft Sans Serif"/>
              </a:rPr>
              <a:t>https://</a:t>
            </a:r>
            <a:r>
              <a:rPr lang="en-US" sz="2700" kern="1200" spc="-13" dirty="0" smtClean="0">
                <a:solidFill>
                  <a:srgbClr val="FFC000"/>
                </a:solidFill>
                <a:latin typeface="Microsoft Sans Serif"/>
                <a:cs typeface="Microsoft Sans Serif"/>
              </a:rPr>
              <a:t>horizon-university.tn </a:t>
            </a:r>
            <a:r>
              <a:rPr lang="en-US" sz="2700" kern="1200" spc="-13" dirty="0">
                <a:solidFill>
                  <a:srgbClr val="00B050"/>
                </a:solidFill>
                <a:latin typeface="Microsoft Sans Serif"/>
                <a:cs typeface="Microsoft Sans Serif"/>
              </a:rPr>
              <a:t>target</a:t>
            </a:r>
            <a:r>
              <a:rPr lang="en-US" sz="2700" kern="1200" spc="-13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="</a:t>
            </a:r>
            <a:r>
              <a:rPr lang="en-US" sz="2700" kern="1200" spc="-13" dirty="0" smtClean="0">
                <a:solidFill>
                  <a:srgbClr val="FFC000"/>
                </a:solidFill>
                <a:latin typeface="Microsoft Sans Serif"/>
                <a:cs typeface="Microsoft Sans Serif"/>
              </a:rPr>
              <a:t>_</a:t>
            </a:r>
            <a:r>
              <a:rPr lang="en-US" sz="2700" kern="1200" spc="-13" dirty="0">
                <a:solidFill>
                  <a:srgbClr val="FFC000"/>
                </a:solidFill>
                <a:latin typeface="Microsoft Sans Serif"/>
                <a:cs typeface="Microsoft Sans Serif"/>
              </a:rPr>
              <a:t>blank</a:t>
            </a:r>
            <a:r>
              <a:rPr lang="en-US" sz="2700" kern="1200" spc="-13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"&gt;Horizon School </a:t>
            </a:r>
            <a:r>
              <a:rPr lang="en-US" sz="2700" kern="1200" spc="-13" dirty="0" smtClean="0">
                <a:solidFill>
                  <a:srgbClr val="FF0000"/>
                </a:solidFill>
                <a:latin typeface="Microsoft Sans Serif"/>
                <a:cs typeface="Microsoft Sans Serif"/>
              </a:rPr>
              <a:t>&lt;/</a:t>
            </a:r>
            <a:r>
              <a:rPr lang="en-US" sz="2700" kern="1200" spc="-13" dirty="0">
                <a:solidFill>
                  <a:srgbClr val="FF0000"/>
                </a:solidFill>
                <a:latin typeface="Microsoft Sans Serif"/>
                <a:cs typeface="Microsoft Sans Serif"/>
              </a:rPr>
              <a:t>a&gt;</a:t>
            </a:r>
          </a:p>
          <a:p>
            <a:endParaRPr lang="en-US" sz="21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Tags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&lt;</a:t>
            </a:r>
            <a:r>
              <a:rPr lang="en-US" sz="21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&gt;,&lt;a&gt;</a:t>
            </a:r>
          </a:p>
          <a:p>
            <a:endParaRPr lang="en-US" sz="21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1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alt, width, </a:t>
            </a:r>
            <a:r>
              <a:rPr lang="en-US" sz="21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target</a:t>
            </a:r>
          </a:p>
          <a:p>
            <a:endParaRPr lang="en-US" sz="21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cat.jpg, </a:t>
            </a:r>
            <a:r>
              <a:rPr 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cute cat, 300, https://horizon-university.tn , _</a:t>
            </a:r>
            <a:r>
              <a:rPr lang="en-US" sz="2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blank</a:t>
            </a: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11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3768252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Tag: </a:t>
            </a:r>
            <a:r>
              <a:rPr lang="fr-FR" sz="4200" b="1" dirty="0" err="1" smtClean="0">
                <a:solidFill>
                  <a:srgbClr val="044389"/>
                </a:solidFill>
              </a:rPr>
              <a:t>Attribute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69736"/>
              </p:ext>
            </p:extLst>
          </p:nvPr>
        </p:nvGraphicFramePr>
        <p:xfrm>
          <a:off x="2072523" y="2949683"/>
          <a:ext cx="8679051" cy="131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9051"/>
              </a:tblGrid>
              <a:tr h="1312607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pPr algn="ctr"/>
                      <a:r>
                        <a:rPr lang="en-US" sz="4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</a:t>
                      </a:r>
                      <a:r>
                        <a:rPr lang="en-US" sz="4400" b="1" i="0" u="none" strike="noStrike" cap="none" dirty="0" smtClean="0">
                          <a:solidFill>
                            <a:srgbClr val="FF006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&lt;p  </a:t>
                      </a:r>
                      <a:r>
                        <a:rPr lang="en-US" sz="4400" b="1" i="0" u="none" strike="noStrike" cap="none" baseline="0" dirty="0" smtClean="0">
                          <a:solidFill>
                            <a:srgbClr val="FF006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4400" b="1" i="0" u="none" strike="noStrike" cap="none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 </a:t>
                      </a:r>
                      <a:r>
                        <a:rPr lang="en-US" sz="4400" b="1" i="0" u="none" strike="noStrike" cap="none" baseline="0" dirty="0" smtClean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= "</a:t>
                      </a:r>
                      <a:r>
                        <a:rPr lang="en-US" sz="4400" b="1" i="0" u="none" strike="noStrike" cap="none" baseline="0" dirty="0" err="1" smtClean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myId</a:t>
                      </a:r>
                      <a:r>
                        <a:rPr lang="en-US" sz="4400" b="1" i="0" u="none" strike="noStrike" cap="none" baseline="0" dirty="0" smtClean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" </a:t>
                      </a:r>
                      <a:r>
                        <a:rPr lang="en-US" sz="4400" b="1" i="0" u="none" strike="noStrike" cap="none" dirty="0" smtClean="0">
                          <a:solidFill>
                            <a:srgbClr val="FF006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r>
                        <a:rPr lang="en-US" sz="4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</a:t>
                      </a:r>
                      <a:r>
                        <a:rPr lang="en-US" sz="4400" b="1" i="0" u="none" strike="noStrike" cap="none" dirty="0" smtClean="0">
                          <a:solidFill>
                            <a:srgbClr val="FF0066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&lt;/p&gt;</a:t>
                      </a:r>
                      <a:endParaRPr lang="en-US" sz="4400" b="1" i="0" u="none" strike="noStrike" cap="none" dirty="0">
                        <a:solidFill>
                          <a:srgbClr val="FF0066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9" name="Accolade fermante 8"/>
          <p:cNvSpPr/>
          <p:nvPr/>
        </p:nvSpPr>
        <p:spPr>
          <a:xfrm rot="5400000">
            <a:off x="4501394" y="4388243"/>
            <a:ext cx="884903" cy="596204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73796" y="5286571"/>
            <a:ext cx="1504335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Attribute</a:t>
            </a:r>
            <a:endParaRPr lang="fr-FR" b="1" kern="1200" spc="-13" dirty="0" smtClean="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name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4" name="Accolade fermante 13"/>
          <p:cNvSpPr/>
          <p:nvPr/>
        </p:nvSpPr>
        <p:spPr>
          <a:xfrm rot="5400000">
            <a:off x="6290186" y="4167698"/>
            <a:ext cx="884903" cy="1017639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066460" y="5276743"/>
            <a:ext cx="1504335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Attribute</a:t>
            </a:r>
            <a:endParaRPr lang="fr-FR" b="1" kern="1200" spc="-13" dirty="0" smtClean="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algn="ctr"/>
            <a:r>
              <a:rPr lang="fr-FR" b="1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value</a:t>
            </a:r>
            <a:endParaRPr lang="fr-FR" b="1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98996" y="1279925"/>
            <a:ext cx="2359742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No  </a:t>
            </a:r>
            <a:r>
              <a:rPr lang="fr-FR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space</a:t>
            </a:r>
            <a:r>
              <a:rPr lang="fr-FR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 </a:t>
            </a:r>
            <a:r>
              <a:rPr lang="fr-FR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allowed</a:t>
            </a:r>
            <a:endParaRPr lang="fr-FR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85212" y="1279925"/>
            <a:ext cx="2359742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No  </a:t>
            </a:r>
            <a:r>
              <a:rPr lang="fr-FR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space</a:t>
            </a:r>
            <a:r>
              <a:rPr lang="fr-FR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  </a:t>
            </a:r>
            <a:r>
              <a:rPr lang="fr-FR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allowed</a:t>
            </a:r>
            <a:endParaRPr lang="fr-FR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cxnSp>
        <p:nvCxnSpPr>
          <p:cNvPr id="13" name="Connecteur droit 12"/>
          <p:cNvCxnSpPr/>
          <p:nvPr/>
        </p:nvCxnSpPr>
        <p:spPr>
          <a:xfrm flipH="1">
            <a:off x="3790337" y="1649257"/>
            <a:ext cx="1017637" cy="20230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H="1">
            <a:off x="9011265" y="1464591"/>
            <a:ext cx="785431" cy="20230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58622" y="1284426"/>
            <a:ext cx="2359742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Must have </a:t>
            </a:r>
            <a:r>
              <a:rPr lang="fr-FR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space</a:t>
            </a:r>
            <a:endParaRPr lang="fr-FR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cxnSp>
        <p:nvCxnSpPr>
          <p:cNvPr id="23" name="Connecteur droit 22"/>
          <p:cNvCxnSpPr/>
          <p:nvPr/>
        </p:nvCxnSpPr>
        <p:spPr>
          <a:xfrm flipH="1">
            <a:off x="4451555" y="1755819"/>
            <a:ext cx="1017637" cy="20230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ccolade fermante 23"/>
          <p:cNvSpPr/>
          <p:nvPr/>
        </p:nvSpPr>
        <p:spPr>
          <a:xfrm rot="16200000">
            <a:off x="6296767" y="2355205"/>
            <a:ext cx="665271" cy="1489588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903612" y="1998130"/>
            <a:ext cx="1269761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fr-FR" kern="1200" spc="-13" dirty="0" smtClean="0">
                <a:solidFill>
                  <a:schemeClr val="bg1"/>
                </a:solidFill>
                <a:latin typeface="Microsoft Sans Serif"/>
                <a:cs typeface="Microsoft Sans Serif"/>
              </a:rPr>
              <a:t>Value in </a:t>
            </a:r>
            <a:r>
              <a:rPr lang="fr-FR" kern="1200" spc="-13" dirty="0" err="1" smtClean="0">
                <a:solidFill>
                  <a:schemeClr val="bg1"/>
                </a:solidFill>
                <a:latin typeface="Microsoft Sans Serif"/>
                <a:cs typeface="Microsoft Sans Serif"/>
              </a:rPr>
              <a:t>quotes</a:t>
            </a:r>
            <a:endParaRPr lang="fr-FR" kern="1200" spc="-13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19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4516855" cy="1411883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Tags : </a:t>
            </a:r>
            <a:r>
              <a:rPr lang="fr-FR" sz="4200" b="1" dirty="0" err="1" smtClean="0">
                <a:solidFill>
                  <a:srgbClr val="044389"/>
                </a:solidFill>
              </a:rPr>
              <a:t>Attributes</a:t>
            </a:r>
            <a:endParaRPr lang="en-US" sz="4200" b="1" dirty="0">
              <a:solidFill>
                <a:srgbClr val="044389"/>
              </a:solidFill>
            </a:endParaRPr>
          </a:p>
          <a:p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2805" y="1146021"/>
            <a:ext cx="11456049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attributes is used to: </a:t>
            </a:r>
            <a:endParaRPr lang="en-US" sz="40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 additional details about an element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and change the element behavior and formatting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the appearance of an element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03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84196" y="105866"/>
            <a:ext cx="10678799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en-US" sz="4200" b="1" dirty="0">
                <a:solidFill>
                  <a:srgbClr val="044389"/>
                </a:solidFill>
              </a:rPr>
              <a:t>Text Formatting </a:t>
            </a:r>
            <a:r>
              <a:rPr lang="en-US" sz="4200" b="1" dirty="0" smtClean="0">
                <a:solidFill>
                  <a:srgbClr val="044389"/>
                </a:solidFill>
              </a:rPr>
              <a:t>&amp; Basic Tags : headings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7" y="1146021"/>
            <a:ext cx="5707626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HTML provides 6 levels of headings: &lt;h1&gt; to &lt;h6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each heading adds space above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below (empty line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Usually, 3–4 levels are enough for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structure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115" y="911174"/>
            <a:ext cx="4697990" cy="240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985" y="3511826"/>
            <a:ext cx="3414598" cy="324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96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4684" y="105866"/>
            <a:ext cx="3078961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en-US" sz="4200" b="1" dirty="0">
                <a:solidFill>
                  <a:srgbClr val="044389"/>
                </a:solidFill>
              </a:rPr>
              <a:t>Tags : </a:t>
            </a:r>
            <a:r>
              <a:rPr lang="en-US" sz="4200" b="1" dirty="0" smtClean="0">
                <a:solidFill>
                  <a:srgbClr val="044389"/>
                </a:solidFill>
              </a:rPr>
              <a:t>Title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6" y="1146021"/>
            <a:ext cx="8149445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HTML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provides six levels of headings, from &lt;h1&gt; (most important) to &lt;h6&gt; (least important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).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Headings help organize content and improve SEO and readability. </a:t>
            </a:r>
            <a:endParaRPr lang="en-US" sz="3200" dirty="0" smtClean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Each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heading should reflect the structure of the page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433" y="2721458"/>
            <a:ext cx="2476224" cy="3566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496" y="955192"/>
            <a:ext cx="2312959" cy="171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8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4684" y="105866"/>
            <a:ext cx="1098016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en-US" sz="4200" b="1" dirty="0">
                <a:solidFill>
                  <a:srgbClr val="044389"/>
                </a:solidFill>
              </a:rPr>
              <a:t>Text Formatting &amp; </a:t>
            </a:r>
            <a:r>
              <a:rPr lang="en-US" sz="4200" b="1">
                <a:solidFill>
                  <a:srgbClr val="044389"/>
                </a:solidFill>
              </a:rPr>
              <a:t>Basic </a:t>
            </a:r>
            <a:r>
              <a:rPr lang="en-US" sz="4200" b="1" smtClean="0">
                <a:solidFill>
                  <a:srgbClr val="044389"/>
                </a:solidFill>
              </a:rPr>
              <a:t>Tags: </a:t>
            </a:r>
            <a:r>
              <a:rPr lang="fr-FR" sz="4200" b="1" dirty="0" err="1" smtClean="0">
                <a:solidFill>
                  <a:srgbClr val="044389"/>
                </a:solidFill>
              </a:rPr>
              <a:t>Paragraph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6" y="1146021"/>
            <a:ext cx="794718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tag &lt;p&gt;…&lt;/p&gt;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Defines a paragraph of text in an HTML page.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Automatically adds spacing above and below (margin).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Helps structure content into clear, readable sections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C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an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include inline elements inside &lt;p&gt; 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: &lt;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strong&gt;, &lt;</a:t>
            </a:r>
            <a:r>
              <a:rPr lang="en-US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&gt;, &lt;b&gt;, &lt;</a:t>
            </a:r>
            <a:r>
              <a:rPr lang="en-US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&gt;, &lt;a&gt;, &lt;span&gt;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407" y="985010"/>
            <a:ext cx="42386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982" y="3429000"/>
            <a:ext cx="2646473" cy="254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197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05010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 smtClean="0">
                <a:solidFill>
                  <a:srgbClr val="044389"/>
                </a:solidFill>
              </a:rPr>
              <a:t>Formatting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1"/>
            <a:ext cx="1144475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Bold text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&lt;b&gt; or &lt;strong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&lt;b&gt;Bold&lt;/b&gt; / &lt;strong&gt;Important&lt;/strong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Italic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text: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  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&gt;Italic&lt;/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/ &lt;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&gt;Emphasis&lt;/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Underline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text: &lt;u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  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&lt;u&gt;Underlined&lt;/u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Strikethrough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text: &lt;s&gt; or &lt;del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&lt;s&gt;Old&lt;/s&gt; / &lt;del&gt;Deleted&lt;/del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Highlighted text : &lt;mark&gt;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&lt;mark&gt;Highlighted&lt;/mark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text(reduce size)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&lt;small&gt;  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&lt;small&gt;Small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text&lt;/small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Abbreviation :&lt;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abbr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title="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HyperText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Markup Language"&gt;HTML&lt;/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abbr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tags : &lt;strong&gt;, &lt;mark&gt;, &lt;</a:t>
            </a:r>
            <a:r>
              <a:rPr lang="en-US" sz="2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&gt;, &lt;</a:t>
            </a:r>
            <a:r>
              <a:rPr lang="en-US" sz="2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abbr</a:t>
            </a:r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&gt;, &lt;quote&gt;, &lt;q&gt;, &lt;code&gt;</a:t>
            </a:r>
            <a:endParaRPr lang="en-US" sz="2800" dirty="0" smtClean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16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4667538" cy="1411883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HTML </a:t>
            </a:r>
            <a:r>
              <a:rPr lang="fr-FR" sz="4200" b="1" dirty="0" err="1" smtClean="0">
                <a:solidFill>
                  <a:srgbClr val="044389"/>
                </a:solidFill>
              </a:rPr>
              <a:t>Comments</a:t>
            </a:r>
            <a:endParaRPr lang="en-US" sz="4200" b="1" dirty="0">
              <a:solidFill>
                <a:srgbClr val="044389"/>
              </a:solidFill>
            </a:endParaRPr>
          </a:p>
          <a:p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2805" y="1146021"/>
            <a:ext cx="11456049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HTML Comments:</a:t>
            </a: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Comments are notes in your code (not shown in the browser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Useful for documentation or disabling code 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temporarily.</a:t>
            </a: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Browsers ignore comments during rendering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dirty="0" smtClean="0">
                <a:solidFill>
                  <a:schemeClr val="tx1"/>
                </a:solidFill>
              </a:rPr>
              <a:t>are </a:t>
            </a:r>
            <a:r>
              <a:rPr lang="en-US" sz="4000" dirty="0">
                <a:solidFill>
                  <a:schemeClr val="tx1"/>
                </a:solidFill>
              </a:rPr>
              <a:t>delimited by 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en-US" sz="4000" dirty="0">
                <a:solidFill>
                  <a:schemeClr val="tx1"/>
                </a:solidFill>
              </a:rPr>
              <a:t>&lt;!-- </a:t>
            </a:r>
            <a:r>
              <a:rPr lang="en-US" sz="4000" dirty="0" smtClean="0">
                <a:solidFill>
                  <a:schemeClr val="tx1"/>
                </a:solidFill>
              </a:rPr>
              <a:t> and --&gt;</a:t>
            </a:r>
          </a:p>
          <a:p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</a:t>
            </a: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&lt;!-- This is a comment </a:t>
            </a:r>
            <a:r>
              <a:rPr lang="en-US" sz="40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--&gt;</a:t>
            </a:r>
            <a:endParaRPr lang="en-US" sz="4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6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119543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List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7" y="1146021"/>
            <a:ext cx="5707626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fr-FR" sz="2800" b="1" dirty="0" smtClean="0">
                <a:solidFill>
                  <a:srgbClr val="044389"/>
                </a:solidFill>
              </a:rPr>
              <a:t>List Types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Ordered list :    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…     &lt;/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Unordered list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&gt;…..   &lt;/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: &lt;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&gt;…    &lt;/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044389"/>
                </a:solidFill>
              </a:rPr>
              <a:t>List Items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&lt;li&gt; → each item in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same for both ordered and unordered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+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→ items in &lt;dl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→ term (word or title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→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024" y="1146021"/>
            <a:ext cx="3073917" cy="499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554" y="3170904"/>
            <a:ext cx="1529475" cy="280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29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856418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&lt;a&gt; Tag : Link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0"/>
            <a:ext cx="11792208" cy="5713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r>
              <a:rPr lang="en-US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&lt;a </a:t>
            </a:r>
            <a:r>
              <a:rPr lang="en-US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="https://www.example.com" target="_blank" title="Visit Example"&gt;Visit Example&lt;/a&gt;</a:t>
            </a:r>
            <a:endParaRPr lang="en-US" sz="28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sz="2800" b="1" dirty="0" smtClean="0">
                <a:solidFill>
                  <a:srgbClr val="044389"/>
                </a:solidFill>
              </a:rPr>
              <a:t>Types </a:t>
            </a:r>
            <a:r>
              <a:rPr lang="fr-FR" sz="2800" b="1" dirty="0">
                <a:solidFill>
                  <a:srgbClr val="044389"/>
                </a:solidFill>
              </a:rPr>
              <a:t>of links:</a:t>
            </a:r>
            <a:endParaRPr lang="en-US" sz="28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page or website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href="https://www.google.com"&gt;Google&lt;/a&gt;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Downloadable file 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="file.pdf"&gt;Download&lt;/a&gt;</a:t>
            </a:r>
          </a:p>
          <a:p>
            <a:pPr marL="571500" indent="-5715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 or phone contact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="mailto:contact@example.com"&gt;Email Us&lt;/a&gt;</a:t>
            </a:r>
          </a:p>
          <a:p>
            <a:pPr algn="just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&lt;a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:+21698765432"&gt;Call Us&lt;/a&gt;</a:t>
            </a:r>
          </a:p>
          <a:p>
            <a:pPr marL="571500" indent="-5715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 to a section on the same 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: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&lt;h1 id="top"&gt;Welcome!&lt;/h1&gt; </a:t>
            </a:r>
          </a:p>
          <a:p>
            <a:pPr algn="just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&lt;a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="#top"&gt;Go to Top&lt;/a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algn="just"/>
            <a:r>
              <a:rPr lang="en-US" sz="2800" b="1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the URL or location the link points to (URL, email, )</a:t>
            </a:r>
          </a:p>
          <a:p>
            <a:pPr lvl="1" algn="just"/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where to open the link (_blank, _self, etc.)</a:t>
            </a:r>
          </a:p>
          <a:p>
            <a:pPr lvl="1" algn="just"/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additional information shown on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hover</a:t>
            </a: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6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856418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&lt;a&gt; Tag : Link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0"/>
            <a:ext cx="11792208" cy="5713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8"/>
          <p:cNvSpPr txBox="1">
            <a:spLocks noChangeArrowheads="1"/>
          </p:cNvSpPr>
          <p:nvPr/>
        </p:nvSpPr>
        <p:spPr bwMode="auto">
          <a:xfrm>
            <a:off x="1139280" y="1412776"/>
            <a:ext cx="858257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b="1" dirty="0"/>
              <a:t>&lt;a&gt;…&lt;/a&gt;</a:t>
            </a:r>
            <a:r>
              <a:rPr lang="fr-FR" dirty="0"/>
              <a:t> : </a:t>
            </a:r>
            <a:r>
              <a:rPr lang="en-US" i="1" dirty="0"/>
              <a:t>It is used to create hyperlinks in </a:t>
            </a:r>
            <a:r>
              <a:rPr lang="en-US" i="1" dirty="0" smtClean="0"/>
              <a:t>HTML.</a:t>
            </a:r>
            <a:endParaRPr lang="fr-FR" i="1" dirty="0"/>
          </a:p>
        </p:txBody>
      </p:sp>
      <p:sp>
        <p:nvSpPr>
          <p:cNvPr id="7" name="ZoneTexte 9"/>
          <p:cNvSpPr txBox="1">
            <a:spLocks noChangeArrowheads="1"/>
          </p:cNvSpPr>
          <p:nvPr/>
        </p:nvSpPr>
        <p:spPr bwMode="auto">
          <a:xfrm>
            <a:off x="972494" y="1844824"/>
            <a:ext cx="849694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/>
              <a:t>&lt;a </a:t>
            </a:r>
            <a:r>
              <a:rPr lang="fr-FR" b="1" dirty="0" err="1" smtClean="0">
                <a:solidFill>
                  <a:srgbClr val="00B050"/>
                </a:solidFill>
              </a:rPr>
              <a:t>href</a:t>
            </a:r>
            <a:r>
              <a:rPr lang="fr-FR" b="1" dirty="0">
                <a:solidFill>
                  <a:srgbClr val="00B050"/>
                </a:solidFill>
              </a:rPr>
              <a:t>= " </a:t>
            </a:r>
            <a:r>
              <a:rPr lang="fr-FR" b="1" dirty="0" err="1" smtClean="0">
                <a:solidFill>
                  <a:srgbClr val="FF0000"/>
                </a:solidFill>
              </a:rPr>
              <a:t>Your</a:t>
            </a:r>
            <a:r>
              <a:rPr lang="fr-FR" b="1" dirty="0" smtClean="0">
                <a:solidFill>
                  <a:srgbClr val="FF0000"/>
                </a:solidFill>
              </a:rPr>
              <a:t> Link</a:t>
            </a:r>
            <a:r>
              <a:rPr lang="fr-FR" b="1" dirty="0" smtClean="0">
                <a:solidFill>
                  <a:srgbClr val="00B050"/>
                </a:solidFill>
              </a:rPr>
              <a:t>"  </a:t>
            </a:r>
            <a:r>
              <a:rPr lang="fr-FR" b="1" dirty="0" err="1" smtClean="0">
                <a:solidFill>
                  <a:srgbClr val="00B050"/>
                </a:solidFill>
              </a:rPr>
              <a:t>target</a:t>
            </a:r>
            <a:r>
              <a:rPr lang="fr-FR" b="1" dirty="0">
                <a:solidFill>
                  <a:srgbClr val="00B050"/>
                </a:solidFill>
              </a:rPr>
              <a:t>= " </a:t>
            </a:r>
            <a:r>
              <a:rPr lang="fr-FR" b="1" dirty="0" smtClean="0">
                <a:solidFill>
                  <a:srgbClr val="FF0000"/>
                </a:solidFill>
              </a:rPr>
              <a:t>_</a:t>
            </a:r>
            <a:r>
              <a:rPr lang="fr-FR" b="1" dirty="0" err="1" smtClean="0">
                <a:solidFill>
                  <a:srgbClr val="FF0000"/>
                </a:solidFill>
              </a:rPr>
              <a:t>blank</a:t>
            </a:r>
            <a:r>
              <a:rPr lang="fr-FR" b="1" dirty="0" smtClean="0">
                <a:solidFill>
                  <a:srgbClr val="00B050"/>
                </a:solidFill>
              </a:rPr>
              <a:t>" </a:t>
            </a:r>
            <a:r>
              <a:rPr lang="fr-FR" b="1" dirty="0" smtClean="0"/>
              <a:t>&gt;</a:t>
            </a:r>
            <a:r>
              <a:rPr lang="fr-FR" i="1" dirty="0" smtClean="0"/>
              <a:t> </a:t>
            </a:r>
            <a:r>
              <a:rPr lang="fr-FR" i="1" dirty="0" err="1"/>
              <a:t>Clickable</a:t>
            </a:r>
            <a:r>
              <a:rPr lang="fr-FR" i="1" dirty="0"/>
              <a:t> </a:t>
            </a:r>
            <a:r>
              <a:rPr lang="fr-FR" i="1" dirty="0" err="1"/>
              <a:t>Text</a:t>
            </a:r>
            <a:r>
              <a:rPr lang="fr-FR" i="1" dirty="0"/>
              <a:t> </a:t>
            </a:r>
            <a:r>
              <a:rPr lang="fr-FR" b="1" dirty="0" smtClean="0"/>
              <a:t>&lt;/</a:t>
            </a:r>
            <a:r>
              <a:rPr lang="fr-FR" b="1" dirty="0"/>
              <a:t>a&gt;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811808" y="3000375"/>
            <a:ext cx="4481165" cy="1143000"/>
          </a:xfrm>
          <a:prstGeom prst="wedgeRoundRectCallout">
            <a:avLst>
              <a:gd name="adj1" fmla="val -36747"/>
              <a:gd name="adj2" fmla="val -1212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The HTML tag used to create links It makes text, images, or buttons clickable</a:t>
            </a:r>
            <a:r>
              <a:rPr lang="fr-FR" dirty="0" smtClean="0">
                <a:solidFill>
                  <a:schemeClr val="tx1"/>
                </a:solidFill>
              </a:rPr>
              <a:t>(une </a:t>
            </a:r>
            <a:r>
              <a:rPr lang="fr-FR" dirty="0">
                <a:solidFill>
                  <a:schemeClr val="tx1"/>
                </a:solidFill>
              </a:rPr>
              <a:t>autre page web, un fichier, …)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1813143" y="2966735"/>
            <a:ext cx="4481166" cy="1143000"/>
          </a:xfrm>
          <a:prstGeom prst="wedgeRoundRectCallout">
            <a:avLst>
              <a:gd name="adj1" fmla="val -27055"/>
              <a:gd name="adj2" fmla="val -1152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/>
                </a:solidFill>
              </a:rPr>
              <a:t>Link </a:t>
            </a:r>
            <a:r>
              <a:rPr lang="fr-FR" dirty="0" err="1">
                <a:solidFill>
                  <a:schemeClr val="tx1"/>
                </a:solidFill>
              </a:rPr>
              <a:t>Paths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3189982" y="2966735"/>
            <a:ext cx="4481166" cy="1143000"/>
          </a:xfrm>
          <a:prstGeom prst="wedgeRoundRectCallout">
            <a:avLst>
              <a:gd name="adj1" fmla="val -27055"/>
              <a:gd name="adj2" fmla="val -1152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where to open the link (_blank, _self, etc.)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ZoneTexte 9"/>
          <p:cNvSpPr txBox="1">
            <a:spLocks noChangeArrowheads="1"/>
          </p:cNvSpPr>
          <p:nvPr/>
        </p:nvSpPr>
        <p:spPr bwMode="auto">
          <a:xfrm>
            <a:off x="1007225" y="5301208"/>
            <a:ext cx="8390211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/>
              <a:t>&lt;a </a:t>
            </a:r>
            <a:r>
              <a:rPr lang="fr-FR" b="1" dirty="0" err="1">
                <a:solidFill>
                  <a:srgbClr val="00B050"/>
                </a:solidFill>
              </a:rPr>
              <a:t>href</a:t>
            </a:r>
            <a:r>
              <a:rPr lang="fr-FR" b="1" dirty="0">
                <a:solidFill>
                  <a:srgbClr val="00B050"/>
                </a:solidFill>
              </a:rPr>
              <a:t>="</a:t>
            </a:r>
            <a:r>
              <a:rPr lang="fr-FR" b="1" dirty="0" smtClean="0">
                <a:solidFill>
                  <a:srgbClr val="FF0000"/>
                </a:solidFill>
              </a:rPr>
              <a:t>mailto:noura.aboudi@horizon-university.tn</a:t>
            </a:r>
            <a:r>
              <a:rPr lang="fr-FR" b="1" dirty="0" smtClean="0">
                <a:solidFill>
                  <a:srgbClr val="00B050"/>
                </a:solidFill>
              </a:rPr>
              <a:t>"</a:t>
            </a:r>
            <a:r>
              <a:rPr lang="fr-FR" b="1" dirty="0" smtClean="0"/>
              <a:t>&gt;</a:t>
            </a:r>
            <a:r>
              <a:rPr lang="fr-FR" i="1" dirty="0" smtClean="0"/>
              <a:t>Write Email </a:t>
            </a:r>
            <a:r>
              <a:rPr lang="fr-FR" i="1" dirty="0"/>
              <a:t>!</a:t>
            </a:r>
            <a:r>
              <a:rPr lang="fr-FR" b="1" dirty="0"/>
              <a:t>&lt;/a&gt;</a:t>
            </a:r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887760" y="2571765"/>
            <a:ext cx="808848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000" b="1" i="1"/>
              <a:t>HTML</a:t>
            </a:r>
          </a:p>
        </p:txBody>
      </p:sp>
      <p:sp>
        <p:nvSpPr>
          <p:cNvPr id="15" name="ZoneTexte 8"/>
          <p:cNvSpPr txBox="1">
            <a:spLocks noChangeArrowheads="1"/>
          </p:cNvSpPr>
          <p:nvPr/>
        </p:nvSpPr>
        <p:spPr bwMode="auto">
          <a:xfrm>
            <a:off x="1044501" y="4725144"/>
            <a:ext cx="858257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b="1"/>
              <a:t>Lien vers un mail</a:t>
            </a:r>
            <a:endParaRPr lang="fr-FR" i="1"/>
          </a:p>
        </p:txBody>
      </p:sp>
      <p:sp>
        <p:nvSpPr>
          <p:cNvPr id="17" name="ZoneTexte 9"/>
          <p:cNvSpPr txBox="1">
            <a:spLocks noChangeArrowheads="1"/>
          </p:cNvSpPr>
          <p:nvPr/>
        </p:nvSpPr>
        <p:spPr bwMode="auto">
          <a:xfrm>
            <a:off x="1044501" y="3546882"/>
            <a:ext cx="8102179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/>
              <a:t>&lt;body&gt;</a:t>
            </a:r>
          </a:p>
          <a:p>
            <a:pPr algn="just"/>
            <a:r>
              <a:rPr lang="fr-FR" b="1" dirty="0"/>
              <a:t>	&lt;p&gt;</a:t>
            </a:r>
          </a:p>
          <a:p>
            <a:pPr algn="just"/>
            <a:r>
              <a:rPr lang="fr-FR" b="1" i="1" dirty="0"/>
              <a:t>	    </a:t>
            </a:r>
            <a:r>
              <a:rPr lang="fr-FR" i="1" dirty="0" smtClean="0"/>
              <a:t>Horizon </a:t>
            </a:r>
            <a:r>
              <a:rPr lang="fr-FR" i="1" dirty="0" err="1" smtClean="0"/>
              <a:t>University</a:t>
            </a:r>
            <a:r>
              <a:rPr lang="fr-FR" i="1" dirty="0" smtClean="0"/>
              <a:t> </a:t>
            </a:r>
            <a:r>
              <a:rPr lang="fr-FR" i="1" dirty="0" err="1" smtClean="0"/>
              <a:t>Website</a:t>
            </a:r>
            <a:endParaRPr lang="fr-FR" i="1" dirty="0" smtClean="0"/>
          </a:p>
          <a:p>
            <a:pPr algn="just"/>
            <a:r>
              <a:rPr lang="fr-FR" b="1" i="1" dirty="0" smtClean="0"/>
              <a:t>	    </a:t>
            </a:r>
            <a:r>
              <a:rPr lang="fr-FR" b="1" dirty="0" smtClean="0"/>
              <a:t>&lt;a</a:t>
            </a:r>
            <a:r>
              <a:rPr lang="fr-FR" b="1" dirty="0" smtClean="0">
                <a:solidFill>
                  <a:srgbClr val="00B050"/>
                </a:solidFill>
              </a:rPr>
              <a:t> </a:t>
            </a:r>
            <a:r>
              <a:rPr lang="fr-FR" b="1" dirty="0" err="1" smtClean="0">
                <a:solidFill>
                  <a:srgbClr val="00B050"/>
                </a:solidFill>
              </a:rPr>
              <a:t>href</a:t>
            </a:r>
            <a:r>
              <a:rPr lang="fr-FR" b="1" dirty="0" smtClean="0">
                <a:solidFill>
                  <a:srgbClr val="00B050"/>
                </a:solidFill>
              </a:rPr>
              <a:t>=</a:t>
            </a:r>
            <a:r>
              <a:rPr lang="fr-FR" b="1" dirty="0">
                <a:solidFill>
                  <a:srgbClr val="FF0000"/>
                </a:solidFill>
              </a:rPr>
              <a:t>" https://horizon-university.tn/fr </a:t>
            </a:r>
            <a:r>
              <a:rPr lang="fr-FR" b="1" dirty="0" smtClean="0">
                <a:solidFill>
                  <a:srgbClr val="FF0000"/>
                </a:solidFill>
              </a:rPr>
              <a:t> </a:t>
            </a:r>
            <a:r>
              <a:rPr lang="fr-FR" b="1" dirty="0" smtClean="0">
                <a:solidFill>
                  <a:srgbClr val="00B050"/>
                </a:solidFill>
              </a:rPr>
              <a:t>"&gt; </a:t>
            </a:r>
            <a:r>
              <a:rPr lang="fr-FR" b="1" dirty="0" smtClean="0"/>
              <a:t>Horizon</a:t>
            </a:r>
            <a:r>
              <a:rPr lang="fr-FR" b="1" i="1" dirty="0" smtClean="0"/>
              <a:t>&lt;/a&gt;</a:t>
            </a:r>
          </a:p>
          <a:p>
            <a:pPr algn="just"/>
            <a:r>
              <a:rPr lang="fr-FR" b="1" i="1" dirty="0"/>
              <a:t>	</a:t>
            </a:r>
            <a:r>
              <a:rPr lang="fr-FR" b="1" dirty="0"/>
              <a:t>&lt;/p&gt;</a:t>
            </a:r>
          </a:p>
          <a:p>
            <a:r>
              <a:rPr lang="fr-FR" b="1" dirty="0"/>
              <a:t>&lt;/body&gt;</a:t>
            </a:r>
          </a:p>
        </p:txBody>
      </p:sp>
      <p:sp>
        <p:nvSpPr>
          <p:cNvPr id="18" name="Rectangle à coins arrondis 17"/>
          <p:cNvSpPr/>
          <p:nvPr/>
        </p:nvSpPr>
        <p:spPr>
          <a:xfrm>
            <a:off x="5430565" y="2966735"/>
            <a:ext cx="4481166" cy="1143000"/>
          </a:xfrm>
          <a:prstGeom prst="wedgeRoundRectCallout">
            <a:avLst>
              <a:gd name="adj1" fmla="val -27055"/>
              <a:gd name="adj2" fmla="val -1152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The text that will act as the hyperlink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1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/>
      <p:bldP spid="15" grpId="0"/>
      <p:bldP spid="17" grpId="0" animBg="1"/>
      <p:bldP spid="18" grpId="0" animBg="1"/>
      <p:bldP spid="18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409180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Tag: &lt;table&gt;</a:t>
            </a:r>
            <a:endParaRPr lang="en-US" sz="4200" b="1" dirty="0">
              <a:solidFill>
                <a:srgbClr val="044389"/>
              </a:solidFill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116508" y="1911051"/>
            <a:ext cx="8605341" cy="3929063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764581" y="2357438"/>
            <a:ext cx="5472608" cy="27860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456168" y="2643188"/>
            <a:ext cx="4709021" cy="11430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2456168" y="3786188"/>
            <a:ext cx="4709021" cy="1143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3557910" y="2928938"/>
            <a:ext cx="3417838" cy="2857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3531319" y="4357688"/>
            <a:ext cx="3417838" cy="28575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3557910" y="4071938"/>
            <a:ext cx="3417838" cy="285750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3557910" y="3214688"/>
            <a:ext cx="3417838" cy="28575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1" name="ZoneTexte 9"/>
          <p:cNvSpPr txBox="1">
            <a:spLocks noChangeArrowheads="1"/>
          </p:cNvSpPr>
          <p:nvPr/>
        </p:nvSpPr>
        <p:spPr bwMode="auto">
          <a:xfrm>
            <a:off x="1079227" y="2028924"/>
            <a:ext cx="7598122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/>
              <a:t>&lt;body&gt;</a:t>
            </a:r>
          </a:p>
          <a:p>
            <a:pPr lvl="1" algn="just"/>
            <a:r>
              <a:rPr lang="fr-FR" b="1" dirty="0"/>
              <a:t>   &lt;table</a:t>
            </a:r>
            <a:r>
              <a:rPr lang="fr-FR" b="1" dirty="0" smtClean="0"/>
              <a:t>&gt;</a:t>
            </a:r>
          </a:p>
          <a:p>
            <a:pPr lvl="1" algn="just"/>
            <a:endParaRPr lang="fr-FR" b="1" dirty="0" smtClean="0"/>
          </a:p>
          <a:p>
            <a:pPr lvl="1" algn="just"/>
            <a:r>
              <a:rPr lang="fr-FR" b="1" dirty="0"/>
              <a:t>	      </a:t>
            </a:r>
            <a:r>
              <a:rPr lang="fr-FR" b="1" dirty="0" smtClean="0"/>
              <a:t>  </a:t>
            </a:r>
            <a:r>
              <a:rPr lang="fr-FR" b="1" dirty="0"/>
              <a:t>&lt;tr&gt;</a:t>
            </a:r>
          </a:p>
          <a:p>
            <a:pPr lvl="1" algn="just"/>
            <a:r>
              <a:rPr lang="fr-FR" b="1" dirty="0"/>
              <a:t>		           &lt;td&gt;</a:t>
            </a:r>
            <a:r>
              <a:rPr lang="fr-FR" i="1" dirty="0"/>
              <a:t>Ligne 1 – Colonne 1</a:t>
            </a:r>
            <a:r>
              <a:rPr lang="fr-FR" b="1" dirty="0"/>
              <a:t>&lt;/td&gt;</a:t>
            </a:r>
          </a:p>
          <a:p>
            <a:pPr lvl="1" algn="just"/>
            <a:r>
              <a:rPr lang="fr-FR" b="1" dirty="0"/>
              <a:t>		           &lt;td&gt;</a:t>
            </a:r>
            <a:r>
              <a:rPr lang="fr-FR" i="1" dirty="0"/>
              <a:t>Ligne 2 – Colonne 2</a:t>
            </a:r>
            <a:r>
              <a:rPr lang="fr-FR" b="1" dirty="0"/>
              <a:t>&lt;/td&gt;</a:t>
            </a:r>
          </a:p>
          <a:p>
            <a:pPr lvl="1" algn="just"/>
            <a:r>
              <a:rPr lang="fr-FR" b="1" dirty="0"/>
              <a:t>	        &lt;/tr&gt;</a:t>
            </a:r>
          </a:p>
          <a:p>
            <a:pPr lvl="1" algn="just"/>
            <a:r>
              <a:rPr lang="fr-FR" b="1" dirty="0"/>
              <a:t>	        &lt;tr&gt;</a:t>
            </a:r>
          </a:p>
          <a:p>
            <a:pPr lvl="1" algn="just"/>
            <a:r>
              <a:rPr lang="fr-FR" b="1" dirty="0"/>
              <a:t>		            &lt;td&gt;</a:t>
            </a:r>
            <a:r>
              <a:rPr lang="fr-FR" i="1" dirty="0"/>
              <a:t>Ligne 2 – Colonne 1</a:t>
            </a:r>
            <a:r>
              <a:rPr lang="fr-FR" b="1" dirty="0"/>
              <a:t>&lt;/td&gt;</a:t>
            </a:r>
          </a:p>
          <a:p>
            <a:pPr lvl="1" algn="just"/>
            <a:r>
              <a:rPr lang="fr-FR" b="1" dirty="0"/>
              <a:t>		            &lt;td&gt;</a:t>
            </a:r>
            <a:r>
              <a:rPr lang="fr-FR" i="1" dirty="0"/>
              <a:t>Ligne 2 – Colonne 2</a:t>
            </a:r>
            <a:r>
              <a:rPr lang="fr-FR" b="1" dirty="0"/>
              <a:t>&lt;/td&gt;</a:t>
            </a:r>
          </a:p>
          <a:p>
            <a:pPr lvl="1" algn="just"/>
            <a:r>
              <a:rPr lang="fr-FR" b="1" dirty="0"/>
              <a:t>	          &lt;/tr&gt;</a:t>
            </a:r>
          </a:p>
          <a:p>
            <a:pPr lvl="1" algn="just"/>
            <a:r>
              <a:rPr lang="fr-FR" b="1" dirty="0"/>
              <a:t>    &lt;/table&gt;</a:t>
            </a:r>
            <a:r>
              <a:rPr lang="fr-FR" b="1" i="1" dirty="0"/>
              <a:t>	</a:t>
            </a:r>
          </a:p>
          <a:p>
            <a:pPr algn="just"/>
            <a:r>
              <a:rPr lang="fr-FR" b="1" dirty="0"/>
              <a:t>&lt;/body&gt;</a:t>
            </a:r>
          </a:p>
        </p:txBody>
      </p:sp>
      <p:sp>
        <p:nvSpPr>
          <p:cNvPr id="22" name="Rectangle à coins arrondis 21"/>
          <p:cNvSpPr/>
          <p:nvPr/>
        </p:nvSpPr>
        <p:spPr>
          <a:xfrm>
            <a:off x="2050703" y="1214438"/>
            <a:ext cx="5772348" cy="1071562"/>
          </a:xfrm>
          <a:prstGeom prst="wedgeRoundRectCallout">
            <a:avLst>
              <a:gd name="adj1" fmla="val -44693"/>
              <a:gd name="adj2" fmla="val 6783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chemeClr val="tx1"/>
                </a:solidFill>
              </a:rPr>
              <a:t>&lt;table&gt;…&lt;/table&gt;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indicates the beginning and the end of a </a:t>
            </a:r>
            <a:r>
              <a:rPr lang="en-US" dirty="0" smtClean="0">
                <a:solidFill>
                  <a:schemeClr val="tx1"/>
                </a:solidFill>
              </a:rPr>
              <a:t>table.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2456168" y="1350790"/>
            <a:ext cx="6607819" cy="1071563"/>
          </a:xfrm>
          <a:prstGeom prst="wedgeRoundRectCallout">
            <a:avLst>
              <a:gd name="adj1" fmla="val -42289"/>
              <a:gd name="adj2" fmla="val 8205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chemeClr val="tx1"/>
                </a:solidFill>
              </a:rPr>
              <a:t>&lt;tr&gt;…&lt;/tr&gt; </a:t>
            </a:r>
            <a:r>
              <a:rPr lang="en-US" dirty="0">
                <a:solidFill>
                  <a:schemeClr val="tx1"/>
                </a:solidFill>
              </a:rPr>
              <a:t>indicates the beginning and the end of a </a:t>
            </a:r>
            <a:r>
              <a:rPr lang="en-US" dirty="0" smtClean="0">
                <a:solidFill>
                  <a:schemeClr val="tx1"/>
                </a:solidFill>
              </a:rPr>
              <a:t>row (line)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3306118" y="1826937"/>
            <a:ext cx="6076156" cy="1285875"/>
          </a:xfrm>
          <a:prstGeom prst="wedgeRoundRectCallout">
            <a:avLst>
              <a:gd name="adj1" fmla="val -39833"/>
              <a:gd name="adj2" fmla="val 6694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The tags &lt;td&gt;…&lt;/td&gt; indicate the beginning and the end of </a:t>
            </a:r>
            <a:r>
              <a:rPr lang="en-US" dirty="0" smtClean="0">
                <a:solidFill>
                  <a:schemeClr val="tx1"/>
                </a:solidFill>
              </a:rPr>
              <a:t>a cell of  row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55537" y="5932214"/>
            <a:ext cx="8439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add a header cell: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… &lt;/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Optional border (deprecated in HTML5):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&lt;table border="1"&gt;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261" y="1301302"/>
            <a:ext cx="2365900" cy="3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051" y="4873032"/>
            <a:ext cx="2421289" cy="1556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503" y="1090992"/>
            <a:ext cx="3674910" cy="412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695" y="4772364"/>
            <a:ext cx="2531402" cy="173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47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2" grpId="1" animBg="1"/>
      <p:bldP spid="23" grpId="0" animBg="1"/>
      <p:bldP spid="23" grpId="1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4684" y="105866"/>
            <a:ext cx="337872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en-US" sz="4200" b="1" dirty="0" smtClean="0">
                <a:solidFill>
                  <a:srgbClr val="044389"/>
                </a:solidFill>
              </a:rPr>
              <a:t>Tags : Table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6" y="1146021"/>
            <a:ext cx="794718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chemeClr val="tx1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c</a:t>
            </a:r>
            <a:r>
              <a:rPr lang="en-US" sz="3200" b="1" dirty="0" err="1" smtClean="0">
                <a:solidFill>
                  <a:schemeClr val="tx1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olspan</a:t>
            </a:r>
            <a:r>
              <a:rPr lang="en-US" sz="3200" dirty="0" smtClean="0">
                <a:solidFill>
                  <a:schemeClr val="tx1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sz="3200" dirty="0" smtClean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: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is used to merge multiple columns into a single cell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fr-FR" sz="32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fr-FR" sz="3200" b="1" kern="1200" dirty="0">
                <a:solidFill>
                  <a:srgbClr val="8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td </a:t>
            </a:r>
            <a:r>
              <a:rPr lang="fr-FR" sz="3200" b="1" kern="1200" dirty="0" err="1">
                <a:solidFill>
                  <a:srgbClr val="2E8B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colspan</a:t>
            </a:r>
            <a:r>
              <a:rPr lang="fr-FR" sz="32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fr-FR" sz="32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3200" b="1" i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200" b="1" kern="1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3200" b="1" kern="1200" dirty="0" smtClean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lvl="0">
              <a:lnSpc>
                <a:spcPct val="150000"/>
              </a:lnSpc>
            </a:pPr>
            <a:endParaRPr lang="en-US" sz="3200" dirty="0" smtClean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endParaRPr lang="en-US" sz="3200" dirty="0" smtClean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marL="571500" lvl="1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used to merge multiple rows into a single cell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fr-FR" sz="24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fr-FR" sz="2400" b="1" kern="1200" dirty="0">
                <a:solidFill>
                  <a:srgbClr val="8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td </a:t>
            </a:r>
            <a:r>
              <a:rPr lang="fr-FR" sz="2400" b="1" kern="1200" dirty="0">
                <a:solidFill>
                  <a:srgbClr val="2E8B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kern="1200" dirty="0" err="1">
                <a:solidFill>
                  <a:srgbClr val="2E8B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rowspan</a:t>
            </a:r>
            <a:r>
              <a:rPr lang="fr-FR" sz="24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fr-FR" sz="24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2400" b="1" i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fr-FR" sz="2400" b="1" kern="1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2400" b="1" kern="1200" dirty="0" smtClean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571500" lvl="1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fr-FR" sz="2400" b="1" kern="1200" dirty="0">
              <a:solidFill>
                <a:srgbClr val="008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lvl="1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fr-FR" sz="2400" b="1" kern="1200" dirty="0">
              <a:solidFill>
                <a:srgbClr val="008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893798" y="2528751"/>
            <a:ext cx="4698619" cy="127419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 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 </a:t>
            </a:r>
            <a:r>
              <a:rPr lang="fr-FR" sz="2400" dirty="0" err="1">
                <a:solidFill>
                  <a:srgbClr val="2E8B57"/>
                </a:solidFill>
              </a:rPr>
              <a:t>colspan</a:t>
            </a:r>
            <a:r>
              <a:rPr lang="fr-FR" sz="2400" dirty="0">
                <a:solidFill>
                  <a:srgbClr val="008080"/>
                </a:solidFill>
              </a:rPr>
              <a:t>=</a:t>
            </a:r>
            <a:r>
              <a:rPr lang="fr-FR" sz="2400" dirty="0">
                <a:solidFill>
                  <a:srgbClr val="FF00FF"/>
                </a:solidFill>
              </a:rPr>
              <a:t>2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2 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 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4          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5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&lt;/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12" name="Picture 6" descr="Tableau colspan"/>
          <p:cNvPicPr>
            <a:picLocks noChangeAspect="1" noChangeArrowheads="1"/>
          </p:cNvPicPr>
          <p:nvPr/>
        </p:nvPicPr>
        <p:blipFill>
          <a:blip r:embed="rId4" cstate="print"/>
          <a:srcRect t="7545"/>
          <a:stretch>
            <a:fillRect/>
          </a:stretch>
        </p:blipFill>
        <p:spPr bwMode="auto">
          <a:xfrm>
            <a:off x="9930518" y="871418"/>
            <a:ext cx="2209926" cy="3395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872432" y="5204490"/>
            <a:ext cx="4719985" cy="149579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 </a:t>
            </a:r>
            <a:r>
              <a:rPr lang="fr-FR" sz="2400" dirty="0" err="1">
                <a:solidFill>
                  <a:srgbClr val="2E8B57"/>
                </a:solidFill>
              </a:rPr>
              <a:t>rowspan</a:t>
            </a:r>
            <a:r>
              <a:rPr lang="fr-FR" sz="2400" dirty="0">
                <a:solidFill>
                  <a:srgbClr val="008080"/>
                </a:solidFill>
              </a:rPr>
              <a:t>=</a:t>
            </a:r>
            <a:r>
              <a:rPr lang="fr-FR" sz="2400" dirty="0">
                <a:solidFill>
                  <a:srgbClr val="FF00FF"/>
                </a:solidFill>
              </a:rPr>
              <a:t>2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2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4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5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&lt;/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ct val="80000"/>
              </a:lnSpc>
              <a:defRPr/>
            </a:pPr>
            <a:r>
              <a:rPr lang="fr-FR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14" name="Picture 6" descr="Tableau rowspan"/>
          <p:cNvPicPr>
            <a:picLocks noChangeAspect="1" noChangeArrowheads="1"/>
          </p:cNvPicPr>
          <p:nvPr/>
        </p:nvPicPr>
        <p:blipFill>
          <a:blip r:embed="rId5" cstate="print"/>
          <a:srcRect t="7545"/>
          <a:stretch>
            <a:fillRect/>
          </a:stretch>
        </p:blipFill>
        <p:spPr bwMode="auto">
          <a:xfrm>
            <a:off x="7906459" y="3667656"/>
            <a:ext cx="2000298" cy="307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582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4684" y="105866"/>
            <a:ext cx="337872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en-US" sz="4200" b="1" dirty="0" smtClean="0">
                <a:solidFill>
                  <a:srgbClr val="044389"/>
                </a:solidFill>
              </a:rPr>
              <a:t>Tags : Table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6" y="1146021"/>
            <a:ext cx="794718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chemeClr val="tx1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c</a:t>
            </a:r>
            <a:r>
              <a:rPr lang="en-US" sz="3200" b="1" dirty="0" err="1" smtClean="0">
                <a:solidFill>
                  <a:schemeClr val="tx1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olspan</a:t>
            </a:r>
            <a:r>
              <a:rPr lang="en-US" sz="3200" dirty="0" smtClean="0">
                <a:solidFill>
                  <a:schemeClr val="tx1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sz="3200" dirty="0" smtClean="0">
                <a:solidFill>
                  <a:srgbClr val="FF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: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is used to merge multiple columns into a single cell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fr-FR" sz="32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fr-FR" sz="3200" b="1" kern="1200" dirty="0">
                <a:solidFill>
                  <a:srgbClr val="8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td </a:t>
            </a:r>
            <a:r>
              <a:rPr lang="fr-FR" sz="3200" b="1" kern="1200" dirty="0" err="1">
                <a:solidFill>
                  <a:srgbClr val="2E8B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colspan</a:t>
            </a:r>
            <a:r>
              <a:rPr lang="fr-FR" sz="32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fr-FR" sz="32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3200" b="1" i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200" b="1" kern="1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3200" b="1" kern="1200" dirty="0" smtClean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lvl="0">
              <a:lnSpc>
                <a:spcPct val="150000"/>
              </a:lnSpc>
            </a:pPr>
            <a:endParaRPr lang="en-US" sz="3200" dirty="0" smtClean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endParaRPr lang="en-US" sz="3200" dirty="0" smtClean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marL="571500" lvl="1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is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used to merge multiple rows into a single cell. </a:t>
            </a:r>
            <a:r>
              <a:rPr lang="fr-FR" sz="24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fr-FR" sz="2400" b="1" kern="1200" dirty="0">
                <a:solidFill>
                  <a:srgbClr val="8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td </a:t>
            </a:r>
            <a:r>
              <a:rPr lang="fr-FR" sz="2400" b="1" kern="1200" dirty="0">
                <a:solidFill>
                  <a:srgbClr val="2E8B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kern="1200" dirty="0" err="1">
                <a:solidFill>
                  <a:srgbClr val="2E8B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rowspan</a:t>
            </a:r>
            <a:r>
              <a:rPr lang="fr-FR" sz="2400" b="1" kern="1200" dirty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fr-FR" sz="24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2400" b="1" i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fr-FR" sz="2400" b="1" kern="1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fr-FR" sz="2400" b="1" kern="1200" dirty="0" smtClean="0">
                <a:solidFill>
                  <a:srgbClr val="008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571500" lvl="1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fr-FR" sz="2400" b="1" kern="1200" dirty="0">
              <a:solidFill>
                <a:srgbClr val="008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lvl="1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fr-FR" sz="2400" b="1" kern="1200" dirty="0">
              <a:solidFill>
                <a:srgbClr val="0080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893798" y="2528751"/>
            <a:ext cx="4698619" cy="127419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 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 </a:t>
            </a:r>
            <a:r>
              <a:rPr lang="fr-FR" sz="2400" dirty="0" err="1">
                <a:solidFill>
                  <a:srgbClr val="2E8B57"/>
                </a:solidFill>
              </a:rPr>
              <a:t>colspan</a:t>
            </a:r>
            <a:r>
              <a:rPr lang="fr-FR" sz="2400" dirty="0">
                <a:solidFill>
                  <a:srgbClr val="008080"/>
                </a:solidFill>
              </a:rPr>
              <a:t>=</a:t>
            </a:r>
            <a:r>
              <a:rPr lang="fr-FR" sz="2400" dirty="0">
                <a:solidFill>
                  <a:srgbClr val="FF00FF"/>
                </a:solidFill>
              </a:rPr>
              <a:t>2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2 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 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4          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5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&lt;/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872432" y="5204490"/>
            <a:ext cx="4719985" cy="149579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1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 </a:t>
            </a:r>
            <a:r>
              <a:rPr lang="fr-FR" sz="2400" dirty="0" err="1">
                <a:solidFill>
                  <a:srgbClr val="2E8B57"/>
                </a:solidFill>
              </a:rPr>
              <a:t>rowspan</a:t>
            </a:r>
            <a:r>
              <a:rPr lang="fr-FR" sz="2400" dirty="0">
                <a:solidFill>
                  <a:srgbClr val="008080"/>
                </a:solidFill>
              </a:rPr>
              <a:t>=</a:t>
            </a:r>
            <a:r>
              <a:rPr lang="fr-FR" sz="2400" dirty="0">
                <a:solidFill>
                  <a:srgbClr val="FF00FF"/>
                </a:solidFill>
              </a:rPr>
              <a:t>2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2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0000"/>
                </a:solidFill>
              </a:rPr>
              <a:t>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tr</a:t>
            </a:r>
            <a:r>
              <a:rPr lang="fr-FR" sz="2400" dirty="0">
                <a:solidFill>
                  <a:srgbClr val="008080"/>
                </a:solidFill>
              </a:rPr>
              <a:t>&gt;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3</a:t>
            </a:r>
            <a:r>
              <a:rPr lang="fr-FR" sz="2400" dirty="0">
                <a:solidFill>
                  <a:srgbClr val="008080"/>
                </a:solidFill>
              </a:rPr>
              <a:t> 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4 </a:t>
            </a:r>
            <a:r>
              <a:rPr lang="fr-FR" sz="2400" dirty="0">
                <a:solidFill>
                  <a:srgbClr val="008080"/>
                </a:solidFill>
              </a:rPr>
              <a:t>&lt;</a:t>
            </a:r>
            <a:r>
              <a:rPr lang="fr-FR" sz="2400" dirty="0">
                <a:solidFill>
                  <a:srgbClr val="804040"/>
                </a:solidFill>
              </a:rPr>
              <a:t>td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  <a:r>
              <a:rPr lang="fr-FR" sz="2400" dirty="0">
                <a:solidFill>
                  <a:srgbClr val="000000"/>
                </a:solidFill>
              </a:rPr>
              <a:t>5</a:t>
            </a:r>
          </a:p>
          <a:p>
            <a:pPr>
              <a:lnSpc>
                <a:spcPct val="80000"/>
              </a:lnSpc>
              <a:defRPr/>
            </a:pPr>
            <a:r>
              <a:rPr lang="fr-FR" sz="2400" dirty="0">
                <a:solidFill>
                  <a:srgbClr val="008080"/>
                </a:solidFill>
              </a:rPr>
              <a:t>&lt;/</a:t>
            </a:r>
            <a:r>
              <a:rPr lang="fr-FR" sz="2400" dirty="0">
                <a:solidFill>
                  <a:srgbClr val="804040"/>
                </a:solidFill>
              </a:rPr>
              <a:t>table</a:t>
            </a:r>
            <a:r>
              <a:rPr lang="fr-FR" sz="240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ct val="80000"/>
              </a:lnSpc>
              <a:defRPr/>
            </a:pPr>
            <a:r>
              <a:rPr lang="fr-FR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66" y="983789"/>
            <a:ext cx="3406775" cy="502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245" y="4916683"/>
            <a:ext cx="2111033" cy="147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58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22964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&lt;table&gt; Tag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1"/>
            <a:ext cx="5088195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r>
              <a:rPr lang="en-US" sz="2800" b="1" dirty="0" smtClean="0">
                <a:solidFill>
                  <a:srgbClr val="044389"/>
                </a:solidFill>
              </a:rPr>
              <a:t>Old </a:t>
            </a:r>
            <a:r>
              <a:rPr lang="en-US" sz="2800" b="1" dirty="0">
                <a:solidFill>
                  <a:srgbClr val="044389"/>
                </a:solidFill>
              </a:rPr>
              <a:t>HTML Way (deprecated in HTML5)</a:t>
            </a:r>
            <a:endParaRPr lang="fr-FR" sz="2800" b="1" dirty="0" smtClean="0">
              <a:solidFill>
                <a:srgbClr val="044389"/>
              </a:solidFill>
            </a:endParaRPr>
          </a:p>
          <a:p>
            <a:pPr algn="just"/>
            <a:endParaRPr lang="fr-FR" sz="2800" b="1" dirty="0" smtClean="0">
              <a:solidFill>
                <a:srgbClr val="044389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border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 adds a border around the table and cells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:&lt;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 border="1"&gt;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755" y="906113"/>
            <a:ext cx="2648206" cy="396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891" y="4272122"/>
            <a:ext cx="2657625" cy="1708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65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22964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&lt;table&gt; Tag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1"/>
            <a:ext cx="5088195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r>
              <a:rPr lang="fr-FR" sz="2800" b="1" dirty="0">
                <a:solidFill>
                  <a:srgbClr val="044389"/>
                </a:solidFill>
              </a:rPr>
              <a:t>Table </a:t>
            </a:r>
            <a:r>
              <a:rPr lang="fr-FR" sz="2800" b="1" dirty="0" err="1" smtClean="0">
                <a:solidFill>
                  <a:srgbClr val="044389"/>
                </a:solidFill>
              </a:rPr>
              <a:t>Caption</a:t>
            </a:r>
            <a:endParaRPr lang="fr-FR" sz="2800" b="1" dirty="0" smtClean="0">
              <a:solidFill>
                <a:srgbClr val="044389"/>
              </a:solidFill>
            </a:endParaRPr>
          </a:p>
          <a:p>
            <a:pPr algn="just"/>
            <a:endParaRPr lang="fr-FR" sz="2800" b="1" dirty="0" smtClean="0">
              <a:solidFill>
                <a:srgbClr val="044389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&lt;caption&gt; tag to add a title to your table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Placement: immediately after opening &lt;table&gt; or just before it closes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Improves readability and accessibility.</a:t>
            </a: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944" y="1027008"/>
            <a:ext cx="3674910" cy="412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136" y="4708380"/>
            <a:ext cx="2531402" cy="173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5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5323165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Merging</a:t>
            </a:r>
            <a:r>
              <a:rPr lang="fr-FR" sz="4200" b="1" dirty="0">
                <a:solidFill>
                  <a:srgbClr val="044389"/>
                </a:solidFill>
              </a:rPr>
              <a:t> Table </a:t>
            </a:r>
            <a:r>
              <a:rPr lang="fr-FR" sz="4200" b="1" dirty="0" err="1">
                <a:solidFill>
                  <a:srgbClr val="044389"/>
                </a:solidFill>
              </a:rPr>
              <a:t>Cells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5" y="983789"/>
            <a:ext cx="5589640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r>
              <a:rPr lang="fr-FR" sz="2800" b="1" dirty="0">
                <a:solidFill>
                  <a:srgbClr val="044389"/>
                </a:solidFill>
              </a:rPr>
              <a:t>Horizontal </a:t>
            </a:r>
            <a:r>
              <a:rPr lang="fr-FR" sz="2800" b="1" dirty="0" err="1">
                <a:solidFill>
                  <a:srgbClr val="044389"/>
                </a:solidFill>
              </a:rPr>
              <a:t>Merge</a:t>
            </a:r>
            <a:r>
              <a:rPr lang="fr-FR" sz="2800" b="1" dirty="0">
                <a:solidFill>
                  <a:srgbClr val="044389"/>
                </a:solidFill>
              </a:rPr>
              <a:t> </a:t>
            </a:r>
            <a:r>
              <a:rPr lang="fr-FR" sz="2800" b="1" dirty="0" smtClean="0">
                <a:solidFill>
                  <a:srgbClr val="044389"/>
                </a:solidFill>
              </a:rPr>
              <a:t>: </a:t>
            </a:r>
            <a:r>
              <a:rPr lang="fr-FR" sz="2800" b="1" dirty="0" err="1">
                <a:solidFill>
                  <a:srgbClr val="044389"/>
                </a:solidFill>
              </a:rPr>
              <a:t>Columns</a:t>
            </a:r>
            <a:r>
              <a:rPr lang="fr-FR" sz="2800" b="1" dirty="0">
                <a:solidFill>
                  <a:srgbClr val="044389"/>
                </a:solidFill>
              </a:rPr>
              <a:t> </a:t>
            </a:r>
            <a:r>
              <a:rPr lang="fr-FR" sz="2800" b="1" dirty="0" err="1" smtClean="0">
                <a:solidFill>
                  <a:srgbClr val="044389"/>
                </a:solidFill>
              </a:rPr>
              <a:t>Merge</a:t>
            </a:r>
            <a:endParaRPr lang="fr-FR" sz="2800" b="1" dirty="0" smtClean="0">
              <a:solidFill>
                <a:srgbClr val="044389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attribute to merge multiple columns in a row.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&lt;td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"2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"&gt;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sz="2800" b="1" dirty="0" smtClean="0">
                <a:solidFill>
                  <a:srgbClr val="044389"/>
                </a:solidFill>
              </a:rPr>
              <a:t>Vertical </a:t>
            </a:r>
            <a:r>
              <a:rPr lang="fr-FR" sz="2800" b="1" dirty="0" err="1">
                <a:solidFill>
                  <a:srgbClr val="044389"/>
                </a:solidFill>
              </a:rPr>
              <a:t>Merge</a:t>
            </a:r>
            <a:r>
              <a:rPr lang="fr-FR" sz="2800" b="1" dirty="0">
                <a:solidFill>
                  <a:srgbClr val="044389"/>
                </a:solidFill>
              </a:rPr>
              <a:t> : Lines </a:t>
            </a:r>
            <a:r>
              <a:rPr lang="fr-FR" sz="2800" b="1" dirty="0" err="1">
                <a:solidFill>
                  <a:srgbClr val="044389"/>
                </a:solidFill>
              </a:rPr>
              <a:t>Merge</a:t>
            </a:r>
            <a:endParaRPr lang="fr-FR" sz="2800" b="1" dirty="0">
              <a:solidFill>
                <a:srgbClr val="044389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attribute to merge multiple rows in a column.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&lt;td 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"2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"&gt;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66" y="983789"/>
            <a:ext cx="3406775" cy="502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245" y="2650562"/>
            <a:ext cx="2111033" cy="147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5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2929882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Tags : List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7" y="1146021"/>
            <a:ext cx="6764104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fr-FR" sz="2800" b="1" dirty="0" smtClean="0">
                <a:solidFill>
                  <a:srgbClr val="044389"/>
                </a:solidFill>
              </a:rPr>
              <a:t>List Types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Ordered list :    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…     &lt;/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Unordered list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&gt;…..   &lt;/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: &lt;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&gt;…    &lt;/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044389"/>
                </a:solidFill>
              </a:rPr>
              <a:t>List Items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&lt;li&gt; → each item in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</a:t>
            </a:r>
            <a:r>
              <a:rPr lang="en-US" sz="28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same for both ordered and unordered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+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→ items in &lt;dl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→ term (word or title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→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496" y="946715"/>
            <a:ext cx="3073917" cy="499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311" y="1091380"/>
            <a:ext cx="1529475" cy="280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11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736058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HTML5 Document Structure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ous-titre 7"/>
          <p:cNvSpPr txBox="1">
            <a:spLocks/>
          </p:cNvSpPr>
          <p:nvPr/>
        </p:nvSpPr>
        <p:spPr>
          <a:xfrm>
            <a:off x="808384" y="1939792"/>
            <a:ext cx="2597938" cy="94168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fontAlgn="auto">
              <a:spcAft>
                <a:spcPts val="0"/>
              </a:spcAft>
              <a:defRPr/>
            </a:pPr>
            <a:r>
              <a:rPr lang="fr-FR" sz="40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Before</a:t>
            </a:r>
            <a:endParaRPr lang="fr-FR" sz="4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0" lvl="1" algn="l" fontAlgn="auto">
              <a:spcAft>
                <a:spcPts val="0"/>
              </a:spcAft>
              <a:defRPr/>
            </a:pPr>
            <a:endParaRPr lang="fr-FR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342900" lvl="1" indent="-342900" algn="l" fontAlgn="auto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fr-FR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7" name="Sous-titre 7"/>
          <p:cNvSpPr txBox="1">
            <a:spLocks/>
          </p:cNvSpPr>
          <p:nvPr/>
        </p:nvSpPr>
        <p:spPr>
          <a:xfrm>
            <a:off x="1202746" y="4813252"/>
            <a:ext cx="2220197" cy="94168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fontAlgn="auto">
              <a:spcAft>
                <a:spcPts val="0"/>
              </a:spcAft>
              <a:defRPr/>
            </a:pPr>
            <a:r>
              <a:rPr lang="fr-FR" sz="40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After</a:t>
            </a:r>
            <a:endParaRPr lang="fr-FR" sz="4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0" lvl="1" algn="l" fontAlgn="auto">
              <a:spcAft>
                <a:spcPts val="0"/>
              </a:spcAft>
              <a:defRPr/>
            </a:pPr>
            <a:endParaRPr lang="fr-FR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342900" lvl="1" indent="-342900" algn="l" fontAlgn="auto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fr-FR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944" y="871418"/>
            <a:ext cx="4024778" cy="2442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 txBox="1">
            <a:spLocks/>
          </p:cNvSpPr>
          <p:nvPr/>
        </p:nvSpPr>
        <p:spPr bwMode="auto">
          <a:xfrm>
            <a:off x="1776050" y="3280083"/>
            <a:ext cx="8734502" cy="725470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 algn="ctr"/>
            <a:r>
              <a:rPr 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Too many DIVs kill the DIV!</a:t>
            </a:r>
            <a:endParaRPr kumimoji="0" lang="fr-BE" sz="3600" i="0" u="none" strike="noStrike" kern="120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486" y="4005552"/>
            <a:ext cx="3867693" cy="3036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558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6" y="105866"/>
            <a:ext cx="7060820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Document Structure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1040003"/>
            <a:ext cx="10230609" cy="5064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48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736058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HTML5 Document Structure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1"/>
            <a:ext cx="1144475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288243"/>
              </p:ext>
            </p:extLst>
          </p:nvPr>
        </p:nvGraphicFramePr>
        <p:xfrm>
          <a:off x="648929" y="949766"/>
          <a:ext cx="10668428" cy="542362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62847"/>
                <a:gridCol w="8705581"/>
              </a:tblGrid>
              <a:tr h="48586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Tags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Description</a:t>
                      </a:r>
                      <a:endParaRPr lang="en-US" sz="1800" dirty="0"/>
                    </a:p>
                  </a:txBody>
                  <a:tcPr/>
                </a:tc>
              </a:tr>
              <a:tr h="678875"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&lt;header&gt;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Represents the introductory section of a webpage. Typically contains the site's logo, navigation menu, and other important branding elements.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</a:tr>
              <a:tr h="678875"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&lt;</a:t>
                      </a:r>
                      <a:r>
                        <a:rPr lang="en-US" sz="2400" b="0" i="0" u="none" strike="noStrike" cap="none" dirty="0" err="1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nav</a:t>
                      </a: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&gt;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Defines a navigation section with links to other pages or sections within the website.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</a:tr>
              <a:tr h="678875"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&lt;footer&gt;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Represents the footer of a webpage, usually containing copyright information, contact details, and related links.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</a:tr>
              <a:tr h="678875"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&lt;section&gt;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Defines a standalone section of content within a webpage, often with a thematic grouping of information.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</a:tr>
              <a:tr h="678875"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&lt;aside&gt;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Contains content indirectly related to the main content, such as sidebars, advertisements, or additional info.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</a:tr>
              <a:tr h="678875"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&lt;article&gt;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Represents a self-contained piece of content that can be independently distributed or reused, like a blog post, news article, or forum post.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ea typeface="Arial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19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9665701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HTML5 Document </a:t>
            </a:r>
            <a:r>
              <a:rPr lang="fr-FR" sz="4200" b="1" dirty="0" smtClean="0">
                <a:solidFill>
                  <a:srgbClr val="044389"/>
                </a:solidFill>
              </a:rPr>
              <a:t>Structure : Header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5"/>
          <p:cNvSpPr txBox="1">
            <a:spLocks/>
          </p:cNvSpPr>
          <p:nvPr/>
        </p:nvSpPr>
        <p:spPr>
          <a:xfrm>
            <a:off x="1369366" y="1146021"/>
            <a:ext cx="4255404" cy="539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fr-FR" sz="1600" dirty="0"/>
              <a:t>&lt;body</a:t>
            </a:r>
            <a:r>
              <a:rPr lang="fr-FR" sz="1600" dirty="0" smtClean="0"/>
              <a:t>&gt;</a:t>
            </a:r>
            <a:endParaRPr lang="fr-FR" sz="1600" dirty="0"/>
          </a:p>
          <a:p>
            <a:r>
              <a:rPr lang="fr-FR" sz="1600" dirty="0" smtClean="0"/>
              <a:t>&lt;</a:t>
            </a:r>
            <a:r>
              <a:rPr lang="fr-FR" sz="1600" dirty="0"/>
              <a:t>header&gt;</a:t>
            </a:r>
          </a:p>
          <a:p>
            <a:r>
              <a:rPr lang="fr-FR" sz="1600" dirty="0"/>
              <a:t>        &lt;h1&gt;</a:t>
            </a:r>
            <a:r>
              <a:rPr lang="fr-FR" sz="1600" dirty="0" err="1"/>
              <a:t>My</a:t>
            </a:r>
            <a:r>
              <a:rPr lang="fr-FR" sz="1600" dirty="0"/>
              <a:t> </a:t>
            </a:r>
            <a:r>
              <a:rPr lang="fr-FR" sz="1600" dirty="0" err="1"/>
              <a:t>Website</a:t>
            </a:r>
            <a:r>
              <a:rPr lang="fr-FR" sz="1600" dirty="0"/>
              <a:t>&lt;/h1&gt;</a:t>
            </a:r>
          </a:p>
          <a:p>
            <a:r>
              <a:rPr lang="fr-FR" sz="1600" dirty="0"/>
              <a:t>        &lt;p&gt;</a:t>
            </a:r>
            <a:r>
              <a:rPr lang="fr-FR" sz="1600" dirty="0" err="1"/>
              <a:t>Welcome</a:t>
            </a:r>
            <a:r>
              <a:rPr lang="fr-FR" sz="1600" dirty="0"/>
              <a:t> to </a:t>
            </a:r>
            <a:r>
              <a:rPr lang="fr-FR" sz="1600" dirty="0" err="1"/>
              <a:t>my</a:t>
            </a:r>
            <a:r>
              <a:rPr lang="fr-FR" sz="1600" dirty="0"/>
              <a:t> </a:t>
            </a:r>
            <a:r>
              <a:rPr lang="fr-FR" sz="1600" dirty="0" err="1"/>
              <a:t>website</a:t>
            </a:r>
            <a:r>
              <a:rPr lang="fr-FR" sz="1600" dirty="0"/>
              <a:t>!&lt;/p&gt;</a:t>
            </a:r>
          </a:p>
          <a:p>
            <a:r>
              <a:rPr lang="fr-FR" sz="1600" dirty="0"/>
              <a:t>    &lt;/header</a:t>
            </a:r>
            <a:r>
              <a:rPr lang="fr-FR" sz="1600" dirty="0" smtClean="0"/>
              <a:t>&gt;</a:t>
            </a:r>
            <a:endParaRPr lang="fr-FR" sz="1600" dirty="0"/>
          </a:p>
          <a:p>
            <a:r>
              <a:rPr lang="fr-FR" sz="1600" dirty="0" smtClean="0"/>
              <a:t>&lt;</a:t>
            </a:r>
            <a:r>
              <a:rPr lang="fr-FR" sz="1600" dirty="0" err="1"/>
              <a:t>nav</a:t>
            </a:r>
            <a:r>
              <a:rPr lang="fr-FR" sz="1600" dirty="0"/>
              <a:t>&gt;</a:t>
            </a:r>
          </a:p>
          <a:p>
            <a:r>
              <a:rPr lang="fr-FR" sz="1600" dirty="0"/>
              <a:t>        &lt;</a:t>
            </a:r>
            <a:r>
              <a:rPr lang="fr-FR" sz="1600" dirty="0" err="1"/>
              <a:t>ul</a:t>
            </a:r>
            <a:r>
              <a:rPr lang="fr-FR" sz="1600" dirty="0"/>
              <a:t>&gt;</a:t>
            </a:r>
          </a:p>
          <a:p>
            <a:r>
              <a:rPr lang="fr-FR" sz="1600" dirty="0"/>
              <a:t>            &lt;li&gt;&lt;a </a:t>
            </a:r>
            <a:r>
              <a:rPr lang="fr-FR" sz="1600" dirty="0" err="1"/>
              <a:t>href</a:t>
            </a:r>
            <a:r>
              <a:rPr lang="fr-FR" sz="1600" dirty="0"/>
              <a:t>="#"&gt;Home&lt;/a&gt;&lt;/li&gt;</a:t>
            </a:r>
          </a:p>
          <a:p>
            <a:r>
              <a:rPr lang="fr-FR" sz="1600" dirty="0"/>
              <a:t>            &lt;li&gt;&lt;a </a:t>
            </a:r>
            <a:r>
              <a:rPr lang="fr-FR" sz="1600" dirty="0" err="1"/>
              <a:t>href</a:t>
            </a:r>
            <a:r>
              <a:rPr lang="fr-FR" sz="1600" dirty="0"/>
              <a:t>="#"&gt;About&lt;/a&gt;&lt;/li&gt;</a:t>
            </a:r>
          </a:p>
          <a:p>
            <a:r>
              <a:rPr lang="fr-FR" sz="1600" dirty="0"/>
              <a:t>            &lt;li&gt;&lt;a </a:t>
            </a:r>
            <a:r>
              <a:rPr lang="fr-FR" sz="1600" dirty="0" err="1"/>
              <a:t>href</a:t>
            </a:r>
            <a:r>
              <a:rPr lang="fr-FR" sz="1600" dirty="0"/>
              <a:t>="#"&gt;Services&lt;/a&gt;&lt;/li&gt;</a:t>
            </a:r>
          </a:p>
          <a:p>
            <a:r>
              <a:rPr lang="fr-FR" sz="1600" dirty="0"/>
              <a:t>            &lt;li&gt;&lt;a </a:t>
            </a:r>
            <a:r>
              <a:rPr lang="fr-FR" sz="1600" dirty="0" err="1"/>
              <a:t>href</a:t>
            </a:r>
            <a:r>
              <a:rPr lang="fr-FR" sz="1600" dirty="0"/>
              <a:t>="#"&gt;Contact&lt;/a&gt;&lt;/li&gt;</a:t>
            </a:r>
          </a:p>
          <a:p>
            <a:r>
              <a:rPr lang="fr-FR" sz="1600" dirty="0"/>
              <a:t>        &lt;/</a:t>
            </a:r>
            <a:r>
              <a:rPr lang="fr-FR" sz="1600" dirty="0" err="1"/>
              <a:t>ul</a:t>
            </a:r>
            <a:r>
              <a:rPr lang="fr-FR" sz="1600" dirty="0"/>
              <a:t>&gt;</a:t>
            </a:r>
          </a:p>
          <a:p>
            <a:r>
              <a:rPr lang="fr-FR" sz="1600" dirty="0"/>
              <a:t>    &lt;/</a:t>
            </a:r>
            <a:r>
              <a:rPr lang="fr-FR" sz="1600" dirty="0" err="1"/>
              <a:t>nav</a:t>
            </a:r>
            <a:r>
              <a:rPr lang="fr-FR" sz="1600" dirty="0"/>
              <a:t>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 smtClean="0"/>
              <a:t>&lt;</a:t>
            </a:r>
            <a:r>
              <a:rPr lang="en-US" sz="1600" dirty="0"/>
              <a:t>section&gt;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&lt;article&gt;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    &lt;h2&gt;Article Title&lt;/h2&gt;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    &lt;p&gt;This is the main article content. You can write paragraphs, images, and other information here.&lt;/p&gt;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&lt;/article&gt;</a:t>
            </a:r>
          </a:p>
          <a:p>
            <a:endParaRPr lang="fr-FR" sz="1600" dirty="0"/>
          </a:p>
        </p:txBody>
      </p:sp>
      <p:sp>
        <p:nvSpPr>
          <p:cNvPr id="7" name="Espace réservé du contenu 6"/>
          <p:cNvSpPr txBox="1">
            <a:spLocks/>
          </p:cNvSpPr>
          <p:nvPr/>
        </p:nvSpPr>
        <p:spPr>
          <a:xfrm>
            <a:off x="6966736" y="1156285"/>
            <a:ext cx="3929343" cy="5394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 smtClean="0"/>
              <a:t>&lt;</a:t>
            </a:r>
            <a:r>
              <a:rPr lang="en-US" sz="1600" dirty="0"/>
              <a:t>aside&gt;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    &lt;h3&gt;Sidebar&lt;/h3&gt;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    &lt;p&gt;This is some additional information, links, or advertisements.&lt;/p&gt;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&lt;/aside&gt;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&lt;/section&gt;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endParaRPr lang="en-US" sz="1600" dirty="0"/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 smtClean="0"/>
              <a:t>&lt;</a:t>
            </a:r>
            <a:r>
              <a:rPr lang="en-US" sz="1600" dirty="0"/>
              <a:t>footer&gt;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    &lt;p&gt;&amp;copy; 2025 My Website. All rights reserved.&lt;/p&gt;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    &lt;/footer&gt;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endParaRPr lang="en-US" sz="1600" dirty="0"/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defRPr/>
            </a:pPr>
            <a:r>
              <a:rPr lang="en-US" sz="1600" dirty="0"/>
              <a:t>&lt;/body&gt;</a:t>
            </a:r>
            <a:endParaRPr kumimoji="0" lang="fr-FR" sz="320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1791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980836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</a:t>
            </a:r>
            <a:r>
              <a:rPr lang="fr-FR" sz="4200" b="1" dirty="0" err="1">
                <a:solidFill>
                  <a:srgbClr val="044389"/>
                </a:solidFill>
              </a:rPr>
              <a:t>Multimedia</a:t>
            </a:r>
            <a:r>
              <a:rPr lang="fr-FR" sz="4200" b="1" dirty="0">
                <a:solidFill>
                  <a:srgbClr val="044389"/>
                </a:solidFill>
              </a:rPr>
              <a:t>: &lt;</a:t>
            </a:r>
            <a:r>
              <a:rPr lang="fr-FR" sz="4200" b="1" dirty="0" err="1">
                <a:solidFill>
                  <a:srgbClr val="044389"/>
                </a:solidFill>
              </a:rPr>
              <a:t>video</a:t>
            </a:r>
            <a:r>
              <a:rPr lang="fr-FR" sz="4200" b="1" dirty="0">
                <a:solidFill>
                  <a:srgbClr val="044389"/>
                </a:solidFill>
              </a:rPr>
              <a:t>&gt; &amp; &lt;audio&gt;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040005"/>
            <a:ext cx="1144475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r>
              <a:rPr lang="en-US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1 - &lt;video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Tag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Used to embed video content in a webpage.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Supports controls like play, pause, volume, </a:t>
            </a:r>
            <a:r>
              <a:rPr lang="en-US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fullscreen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</a:t>
            </a:r>
          </a:p>
          <a:p>
            <a:r>
              <a:rPr lang="en-US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2 - &lt;audio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Tag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Used to embed audio content.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Supports controls like play, pause, volume.</a:t>
            </a:r>
          </a:p>
          <a:p>
            <a:endParaRPr lang="en-US" sz="28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2463" y="1040005"/>
            <a:ext cx="3036391" cy="174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90627" y="2992370"/>
            <a:ext cx="2952328" cy="133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3589134" y="1140913"/>
            <a:ext cx="4364706" cy="338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FR" sz="16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video</a:t>
            </a:r>
            <a:r>
              <a:rPr lang="fr-FR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fr-FR" sz="16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video.webm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fr-FR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fr-FR" sz="16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video</a:t>
            </a:r>
            <a:r>
              <a:rPr lang="fr-FR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170321" y="2822507"/>
            <a:ext cx="5434784" cy="339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&lt;audio </a:t>
            </a:r>
            <a:r>
              <a:rPr lang="fr-F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fr-FR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audio.mp3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fr-FR" sz="16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controls</a:t>
            </a:r>
            <a:r>
              <a:rPr lang="fr-FR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&gt;&lt;/audio&gt;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5519" y="4631132"/>
            <a:ext cx="89231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controls : show play/pause, volume. </a:t>
            </a:r>
            <a:r>
              <a:rPr lang="en-US" sz="20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                                                            Width</a:t>
            </a: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, height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Bahnschrift Condensed" panose="020B0502040204020203" pitchFamily="34" charset="0"/>
                <a:cs typeface="Arial" panose="020B0604020202020204" pitchFamily="34" charset="0"/>
              </a:rPr>
              <a:t>autoplay</a:t>
            </a: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 : audio </a:t>
            </a:r>
            <a:r>
              <a:rPr lang="en-US" sz="20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/video starts </a:t>
            </a: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automatically</a:t>
            </a:r>
            <a:r>
              <a:rPr lang="en-US" sz="20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.                                                </a:t>
            </a:r>
            <a:endParaRPr lang="en-US" sz="20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loop : </a:t>
            </a:r>
            <a:r>
              <a:rPr lang="en-US" sz="20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audio/ video </a:t>
            </a: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repeats continuously.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 Condensed" panose="020B0502040204020203" pitchFamily="34" charset="0"/>
                <a:cs typeface="Arial" panose="020B0604020202020204" pitchFamily="34" charset="0"/>
              </a:rPr>
              <a:t>preload="auto" : browser loads the full audio file when the page loads.</a:t>
            </a:r>
          </a:p>
        </p:txBody>
      </p:sp>
    </p:spTree>
    <p:extLst>
      <p:ext uri="{BB962C8B-B14F-4D97-AF65-F5344CB8AC3E}">
        <p14:creationId xmlns:p14="http://schemas.microsoft.com/office/powerpoint/2010/main" val="278424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980836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 </a:t>
            </a:r>
            <a:r>
              <a:rPr lang="fr-FR" sz="4200" b="1" dirty="0" err="1">
                <a:solidFill>
                  <a:srgbClr val="044389"/>
                </a:solidFill>
              </a:rPr>
              <a:t>Multimedia</a:t>
            </a:r>
            <a:r>
              <a:rPr lang="fr-FR" sz="4200" b="1" dirty="0">
                <a:solidFill>
                  <a:srgbClr val="044389"/>
                </a:solidFill>
              </a:rPr>
              <a:t>: &lt;</a:t>
            </a:r>
            <a:r>
              <a:rPr lang="fr-FR" sz="4200" b="1" dirty="0" err="1">
                <a:solidFill>
                  <a:srgbClr val="044389"/>
                </a:solidFill>
              </a:rPr>
              <a:t>video</a:t>
            </a:r>
            <a:r>
              <a:rPr lang="fr-FR" sz="4200" b="1" dirty="0">
                <a:solidFill>
                  <a:srgbClr val="044389"/>
                </a:solidFill>
              </a:rPr>
              <a:t>&gt; &amp; &lt;audio&gt;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5"/>
          <p:cNvSpPr txBox="1">
            <a:spLocks/>
          </p:cNvSpPr>
          <p:nvPr/>
        </p:nvSpPr>
        <p:spPr>
          <a:xfrm>
            <a:off x="530087" y="1146021"/>
            <a:ext cx="5094683" cy="35054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/>
              <a:t>&lt;video width="360" height="640" poster="image.jpg" controls&gt;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&lt;source </a:t>
            </a:r>
            <a:r>
              <a:rPr lang="en-US" sz="1600" dirty="0" err="1"/>
              <a:t>src</a:t>
            </a:r>
            <a:r>
              <a:rPr lang="en-US" sz="1600" dirty="0"/>
              <a:t>="video.mp4" type="video/mp4" /&gt;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&lt;source </a:t>
            </a:r>
            <a:r>
              <a:rPr lang="en-US" sz="1600" dirty="0" err="1"/>
              <a:t>src</a:t>
            </a:r>
            <a:r>
              <a:rPr lang="en-US" sz="1600" dirty="0"/>
              <a:t>="</a:t>
            </a:r>
            <a:r>
              <a:rPr lang="en-US" sz="1600" dirty="0" err="1"/>
              <a:t>video.webm</a:t>
            </a:r>
            <a:r>
              <a:rPr lang="en-US" sz="1600" dirty="0"/>
              <a:t>" type="video/</a:t>
            </a:r>
            <a:r>
              <a:rPr lang="en-US" sz="1600" dirty="0" err="1"/>
              <a:t>webm</a:t>
            </a:r>
            <a:r>
              <a:rPr lang="en-US" sz="1600" dirty="0"/>
              <a:t>" /&gt;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&lt;source </a:t>
            </a:r>
            <a:r>
              <a:rPr lang="en-US" sz="1600" dirty="0" err="1"/>
              <a:t>src</a:t>
            </a:r>
            <a:r>
              <a:rPr lang="en-US" sz="1600" dirty="0"/>
              <a:t>="</a:t>
            </a:r>
            <a:r>
              <a:rPr lang="en-US" sz="1600" dirty="0" err="1"/>
              <a:t>video.ogv</a:t>
            </a:r>
            <a:r>
              <a:rPr lang="en-US" sz="1600" dirty="0"/>
              <a:t>" type="video/</a:t>
            </a:r>
            <a:r>
              <a:rPr lang="en-US" sz="1600" dirty="0" err="1"/>
              <a:t>ogg</a:t>
            </a:r>
            <a:r>
              <a:rPr lang="en-US" sz="1600" dirty="0"/>
              <a:t>" /&gt;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Alternative content: a download link, a message, etc.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&lt;/video&gt;</a:t>
            </a:r>
          </a:p>
          <a:p>
            <a:pPr>
              <a:lnSpc>
                <a:spcPct val="150000"/>
              </a:lnSpc>
            </a:pPr>
            <a:endParaRPr lang="fr-FR" sz="1600" dirty="0"/>
          </a:p>
        </p:txBody>
      </p:sp>
      <p:sp>
        <p:nvSpPr>
          <p:cNvPr id="7" name="Espace réservé du contenu 6"/>
          <p:cNvSpPr txBox="1">
            <a:spLocks/>
          </p:cNvSpPr>
          <p:nvPr/>
        </p:nvSpPr>
        <p:spPr>
          <a:xfrm>
            <a:off x="6546574" y="1156286"/>
            <a:ext cx="4982817" cy="34952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/>
              <a:t>&lt;audio controls&gt;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&lt;source </a:t>
            </a:r>
            <a:r>
              <a:rPr lang="en-US" sz="1600" dirty="0" err="1"/>
              <a:t>src</a:t>
            </a:r>
            <a:r>
              <a:rPr lang="en-US" sz="1600" dirty="0"/>
              <a:t>="audio.mp3" type="audio/mpeg" /&gt;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&lt;source </a:t>
            </a:r>
            <a:r>
              <a:rPr lang="en-US" sz="1600" dirty="0" err="1"/>
              <a:t>src</a:t>
            </a:r>
            <a:r>
              <a:rPr lang="en-US" sz="1600" dirty="0"/>
              <a:t>="audio.ogg" type="audio/</a:t>
            </a:r>
            <a:r>
              <a:rPr lang="en-US" sz="1600" dirty="0" err="1"/>
              <a:t>ogg</a:t>
            </a:r>
            <a:r>
              <a:rPr lang="en-US" sz="1600" dirty="0"/>
              <a:t>" /&gt;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  Alternative content: your browser does not support the audio element.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&lt;/audio&gt;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15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736058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HTML5 Document Structure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8205" y="1146021"/>
            <a:ext cx="1144475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&lt;div&gt; tag provide flexible control for applying a style to parts of a document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HTML5 structural elements can be used inside the &lt;div&gt; tag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&lt;div&gt; tag has no innate </a:t>
            </a:r>
            <a:r>
              <a:rPr lang="en-US" sz="2800" b="1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sementic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meaning besides the logical grouping of the content </a:t>
            </a:r>
            <a:endParaRPr lang="en-US" sz="2800" dirty="0" smtClean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51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1078" y="1948071"/>
            <a:ext cx="797780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00" b="1" dirty="0">
                <a:solidFill>
                  <a:srgbClr val="044389"/>
                </a:solidFill>
              </a:rPr>
              <a:t>LAB 1: Basics of HTML</a:t>
            </a:r>
          </a:p>
        </p:txBody>
      </p:sp>
      <p:pic>
        <p:nvPicPr>
          <p:cNvPr id="3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529406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HTML </a:t>
            </a:r>
            <a:r>
              <a:rPr lang="fr-FR" sz="4200" b="1" dirty="0" err="1" smtClean="0">
                <a:solidFill>
                  <a:srgbClr val="044389"/>
                </a:solidFill>
              </a:rPr>
              <a:t>Forms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:\Users\Fred\Desktop\server-128x12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16739" y="1579354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8328684" y="2990830"/>
            <a:ext cx="15953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CA" dirty="0" smtClean="0"/>
              <a:t>Google </a:t>
            </a:r>
            <a:r>
              <a:rPr lang="fr-CA" dirty="0" err="1" smtClean="0"/>
              <a:t>Sever</a:t>
            </a:r>
            <a:endParaRPr lang="fr-CA" dirty="0"/>
          </a:p>
        </p:txBody>
      </p:sp>
      <p:sp>
        <p:nvSpPr>
          <p:cNvPr id="12" name="Right Arrow 7"/>
          <p:cNvSpPr/>
          <p:nvPr/>
        </p:nvSpPr>
        <p:spPr>
          <a:xfrm>
            <a:off x="6595963" y="1823691"/>
            <a:ext cx="857250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14" name="Right Arrow 11"/>
          <p:cNvSpPr/>
          <p:nvPr/>
        </p:nvSpPr>
        <p:spPr>
          <a:xfrm rot="8550452">
            <a:off x="6775147" y="3702712"/>
            <a:ext cx="1000125" cy="2968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/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3" y="984804"/>
            <a:ext cx="4965508" cy="1963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817" y="3825660"/>
            <a:ext cx="5346700" cy="2997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392" y="1280707"/>
            <a:ext cx="5405277" cy="449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88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529406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HTML </a:t>
            </a:r>
            <a:r>
              <a:rPr lang="fr-FR" sz="4200" b="1" dirty="0" err="1" smtClean="0">
                <a:solidFill>
                  <a:srgbClr val="044389"/>
                </a:solidFill>
              </a:rPr>
              <a:t>Forms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4" y="983789"/>
            <a:ext cx="11478250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 form is an HTML element that allows users to enter and submit data to a server.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 form is inserted into an HTML page using the double 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&lt;form&gt;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tag.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All 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formatting can be applied to form elements. </a:t>
            </a:r>
            <a:endParaRPr lang="en-US" sz="3200" dirty="0" smtClean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Attributes:</a:t>
            </a:r>
          </a:p>
          <a:p>
            <a:pPr algn="just"/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	 </a:t>
            </a:r>
            <a:r>
              <a:rPr lang="en-US" sz="3200" b="1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action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→ URL where form data is sent </a:t>
            </a:r>
          </a:p>
          <a:p>
            <a:pPr algn="just"/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	</a:t>
            </a:r>
            <a:r>
              <a:rPr lang="en-US" sz="3200" b="1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method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→ HTTP </a:t>
            </a:r>
            <a:r>
              <a:rPr lang="en-US" sz="3200" dirty="0" err="1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methodused</a:t>
            </a:r>
            <a:r>
              <a:rPr lang="en-US" sz="3200" dirty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 to send the data using GET or POST</a:t>
            </a:r>
            <a:r>
              <a:rPr lang="en-US" sz="3200" dirty="0" smtClean="0">
                <a:solidFill>
                  <a:srgbClr val="000000"/>
                </a:solidFill>
                <a:latin typeface="Bahnschrift Condensed" panose="020B0502040204020203" pitchFamily="34" charset="0"/>
                <a:ea typeface="Arial"/>
                <a:cs typeface="Arial" panose="020B0604020202020204" pitchFamily="34" charset="0"/>
              </a:rPr>
              <a:t>.</a:t>
            </a:r>
            <a:endParaRPr lang="en-US" sz="3200" dirty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00000"/>
              </a:solidFill>
              <a:latin typeface="Bahnschrift Condensed" panose="020B0502040204020203" pitchFamily="34" charset="0"/>
              <a:ea typeface="Arial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654" y="1438809"/>
            <a:ext cx="4838071" cy="878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206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170333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&lt;</a:t>
            </a:r>
            <a:r>
              <a:rPr lang="fr-FR" sz="4200" b="1" dirty="0" err="1" smtClean="0">
                <a:solidFill>
                  <a:srgbClr val="044389"/>
                </a:solidFill>
              </a:rPr>
              <a:t>form</a:t>
            </a:r>
            <a:r>
              <a:rPr lang="fr-FR" sz="4200" b="1" dirty="0" smtClean="0">
                <a:solidFill>
                  <a:srgbClr val="044389"/>
                </a:solidFill>
              </a:rPr>
              <a:t>&gt; Tag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4" y="983789"/>
            <a:ext cx="6941577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2800" b="1" dirty="0" smtClean="0">
              <a:solidFill>
                <a:srgbClr val="044389"/>
              </a:solidFill>
            </a:endParaRPr>
          </a:p>
          <a:p>
            <a:pPr algn="just"/>
            <a:r>
              <a:rPr lang="fr-FR" sz="2800" b="1" dirty="0" smtClean="0">
                <a:solidFill>
                  <a:srgbClr val="044389"/>
                </a:solidFill>
              </a:rPr>
              <a:t>Basic </a:t>
            </a:r>
            <a:r>
              <a:rPr lang="fr-FR" sz="2800" b="1" dirty="0" err="1" smtClean="0">
                <a:solidFill>
                  <a:srgbClr val="044389"/>
                </a:solidFill>
              </a:rPr>
              <a:t>elements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Label: Associates text with an input field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&lt;label for="username"&gt;Username:&lt;/label&gt;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field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&lt;input type="text" id="username" name="username"&gt;</a:t>
            </a: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1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864458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Form</a:t>
            </a:r>
            <a:r>
              <a:rPr lang="fr-FR" sz="4200" b="1" dirty="0">
                <a:solidFill>
                  <a:srgbClr val="044389"/>
                </a:solidFill>
              </a:rPr>
              <a:t> Structure (Labels &amp; Inputs)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5" y="983789"/>
            <a:ext cx="611566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&lt;label&gt;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Associates text with an input field.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input&gt;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Creates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interactive field where the user can enter or select data.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name of field.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width of the box reserved for the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25" y="1146020"/>
            <a:ext cx="5047184" cy="2752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971" y="5250853"/>
            <a:ext cx="5639442" cy="68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5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864458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Form</a:t>
            </a:r>
            <a:r>
              <a:rPr lang="fr-FR" sz="4200" b="1" dirty="0">
                <a:solidFill>
                  <a:srgbClr val="044389"/>
                </a:solidFill>
              </a:rPr>
              <a:t> Structure (Labels &amp; Inputs)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5" y="983789"/>
            <a:ext cx="611566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MAXLENGTH: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 length of the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name of field.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Value of field.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Input types.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Relationship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All &lt;label&gt; and &lt;input&gt; fields go inside the &lt;form&gt;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25" y="1146020"/>
            <a:ext cx="5047184" cy="2752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971" y="5250853"/>
            <a:ext cx="5639442" cy="68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08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3258498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>
                <a:solidFill>
                  <a:srgbClr val="044389"/>
                </a:solidFill>
              </a:rPr>
              <a:t>Input Types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5" y="983789"/>
            <a:ext cx="611566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:single-line text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password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:hidden text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:email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button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:clickable button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checkbox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:selection box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radio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:radio button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38891" y="970304"/>
            <a:ext cx="5851522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:color picker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datetime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-local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:date/time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 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:file upload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hidden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:hidden field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:image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38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5025007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 smtClean="0">
                <a:solidFill>
                  <a:srgbClr val="044389"/>
                </a:solidFill>
              </a:rPr>
              <a:t>Others</a:t>
            </a:r>
            <a:r>
              <a:rPr lang="fr-FR" sz="4200" b="1" dirty="0" smtClean="0">
                <a:solidFill>
                  <a:srgbClr val="044389"/>
                </a:solidFill>
              </a:rPr>
              <a:t> </a:t>
            </a:r>
            <a:r>
              <a:rPr lang="fr-FR" sz="4200" b="1" dirty="0" err="1" smtClean="0">
                <a:solidFill>
                  <a:srgbClr val="044389"/>
                </a:solidFill>
              </a:rPr>
              <a:t>form</a:t>
            </a:r>
            <a:r>
              <a:rPr lang="fr-FR" sz="4200" b="1" dirty="0">
                <a:solidFill>
                  <a:srgbClr val="044389"/>
                </a:solidFill>
              </a:rPr>
              <a:t> Fields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605" y="983789"/>
            <a:ext cx="611566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Area </a:t>
            </a:r>
            <a:endParaRPr lang="en-US" sz="28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Area: &lt;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… &lt;/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&gt;: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multi-line text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algn="just"/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997" y="1146021"/>
            <a:ext cx="5301768" cy="18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65" y="3757019"/>
            <a:ext cx="8719600" cy="1477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163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2272651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Buttons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684" y="915595"/>
            <a:ext cx="482075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Buttons allow actions inside forms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&amp;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Dropdown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choices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879" y="1146021"/>
            <a:ext cx="4996975" cy="96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794" y="2414125"/>
            <a:ext cx="3107143" cy="84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636" y="3045389"/>
            <a:ext cx="37242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910" y="4739456"/>
            <a:ext cx="28479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36" y="4739456"/>
            <a:ext cx="36957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513" y="2928938"/>
            <a:ext cx="22098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88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6041311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Useful</a:t>
            </a:r>
            <a:r>
              <a:rPr lang="fr-FR" sz="4200" b="1" dirty="0">
                <a:solidFill>
                  <a:srgbClr val="044389"/>
                </a:solidFill>
              </a:rPr>
              <a:t> Input </a:t>
            </a:r>
            <a:r>
              <a:rPr lang="fr-FR" sz="4200" b="1" dirty="0" err="1">
                <a:solidFill>
                  <a:srgbClr val="044389"/>
                </a:solidFill>
              </a:rPr>
              <a:t>Attributes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683" y="915595"/>
            <a:ext cx="5535561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autocomplete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:browser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suggests input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autofocus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:automatically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focus the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checked / selected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:pre-select checkboxes, radio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buttons,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options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38890" y="988705"/>
            <a:ext cx="5947387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disabled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readonly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:prevent user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max, min, step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:numerical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limits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maxlength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minlength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:text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length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limits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placeholder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:hint text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pattern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:regex validation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15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6103828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Examples</a:t>
            </a:r>
            <a:r>
              <a:rPr lang="fr-FR" sz="4200" b="1" dirty="0">
                <a:solidFill>
                  <a:srgbClr val="044389"/>
                </a:solidFill>
              </a:rPr>
              <a:t> of </a:t>
            </a:r>
            <a:r>
              <a:rPr lang="fr-FR" sz="4200" b="1" dirty="0" err="1">
                <a:solidFill>
                  <a:srgbClr val="044389"/>
                </a:solidFill>
              </a:rPr>
              <a:t>Attributes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684" y="915595"/>
            <a:ext cx="482075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286" y="967464"/>
            <a:ext cx="3791338" cy="1040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252" y="1081088"/>
            <a:ext cx="2017614" cy="92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879" y="4453286"/>
            <a:ext cx="527685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761" y="4982128"/>
            <a:ext cx="31623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6566" y="1075498"/>
            <a:ext cx="2802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checked/selected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394" y="2462165"/>
            <a:ext cx="2949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Disabled/</a:t>
            </a:r>
            <a:r>
              <a:rPr lang="en-US" sz="2800" b="1" dirty="0" err="1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readonly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342" y="2305036"/>
            <a:ext cx="5991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416" y="3521832"/>
            <a:ext cx="36671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269090" y="5026221"/>
            <a:ext cx="2363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Max/min/step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6103828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Examples</a:t>
            </a:r>
            <a:r>
              <a:rPr lang="fr-FR" sz="4200" b="1" dirty="0">
                <a:solidFill>
                  <a:srgbClr val="044389"/>
                </a:solidFill>
              </a:rPr>
              <a:t> of </a:t>
            </a:r>
            <a:r>
              <a:rPr lang="fr-FR" sz="4200" b="1" dirty="0" err="1">
                <a:solidFill>
                  <a:srgbClr val="044389"/>
                </a:solidFill>
              </a:rPr>
              <a:t>Attributes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684" y="915595"/>
            <a:ext cx="482075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6566" y="1075498"/>
            <a:ext cx="3443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maxlength</a:t>
            </a:r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</a:t>
            </a:r>
            <a:r>
              <a:rPr lang="en-US" sz="2800" b="1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minlength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9090" y="5026221"/>
            <a:ext cx="20313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Place holder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973" y="990600"/>
            <a:ext cx="76009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79" y="1876425"/>
            <a:ext cx="20002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420" y="4977941"/>
            <a:ext cx="71056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998" y="5835654"/>
            <a:ext cx="20764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46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13055" y="105866"/>
            <a:ext cx="6103828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err="1">
                <a:solidFill>
                  <a:srgbClr val="044389"/>
                </a:solidFill>
              </a:rPr>
              <a:t>Examples</a:t>
            </a:r>
            <a:r>
              <a:rPr lang="fr-FR" sz="4200" b="1" dirty="0">
                <a:solidFill>
                  <a:srgbClr val="044389"/>
                </a:solidFill>
              </a:rPr>
              <a:t> of </a:t>
            </a:r>
            <a:r>
              <a:rPr lang="fr-FR" sz="4200" b="1" dirty="0" err="1">
                <a:solidFill>
                  <a:srgbClr val="044389"/>
                </a:solidFill>
              </a:rPr>
              <a:t>Attributes</a:t>
            </a:r>
            <a:endParaRPr lang="en-US" sz="4200" b="1" dirty="0">
              <a:solidFill>
                <a:srgbClr val="04438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8929" y="1146021"/>
            <a:ext cx="11379925" cy="535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algn="just"/>
            <a:endParaRPr lang="fr-FR" sz="3600" kern="1200" spc="-13" dirty="0" smtClean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0245" y="1146021"/>
            <a:ext cx="5589640" cy="5505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684" y="915595"/>
            <a:ext cx="4820756" cy="582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067" tIns="59034" rIns="118067" bIns="59034" spcCol="0" rtlCol="0" anchor="ctr"/>
          <a:lstStyle/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16566" y="1075498"/>
            <a:ext cx="10352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pattern :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used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validate the user input against a regular expression 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182" y="3825662"/>
            <a:ext cx="3112273" cy="164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37" y="1887397"/>
            <a:ext cx="7061044" cy="240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65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Kénium\Desktop\HTML5_Logo_5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79728" y="121762"/>
            <a:ext cx="701455" cy="6597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7077" y="1033671"/>
            <a:ext cx="1151613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Proper spacing and indentation make the code more readable.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Always </a:t>
            </a: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check your code using the </a:t>
            </a: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  <a:hlinkClick r:id="rId3"/>
              </a:rPr>
              <a:t>W3C </a:t>
            </a: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  <a:hlinkClick r:id="rId3"/>
              </a:rPr>
              <a:t>Validator </a:t>
            </a: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s.</a:t>
            </a:r>
            <a:endParaRPr lang="en-US" sz="32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Following </a:t>
            </a: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best practices enhances accessibility, user experience, and </a:t>
            </a: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SEO.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With </a:t>
            </a: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Google Analytics and Search Console, you can track visitors and optimize your pages</a:t>
            </a: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Bahnschrift Condensed" panose="020B0502040204020203" pitchFamily="34" charset="0"/>
                <a:cs typeface="Arial" panose="020B0604020202020204" pitchFamily="34" charset="0"/>
              </a:rPr>
              <a:t>The default style is simple; CSS can be used to improve the appearance</a:t>
            </a:r>
            <a:r>
              <a:rPr lang="en-US" sz="3200" dirty="0" smtClean="0">
                <a:latin typeface="Bahnschrift Condensed" panose="020B0502040204020203" pitchFamily="34" charset="0"/>
                <a:cs typeface="Arial" panose="020B0604020202020204" pitchFamily="34" charset="0"/>
              </a:rPr>
              <a:t>.</a:t>
            </a:r>
            <a:endParaRPr lang="en-US" sz="32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113055" y="105866"/>
            <a:ext cx="3168729" cy="765552"/>
          </a:xfrm>
          <a:prstGeom prst="rect">
            <a:avLst/>
          </a:prstGeom>
          <a:noFill/>
        </p:spPr>
        <p:txBody>
          <a:bodyPr wrap="none" lIns="118067" tIns="59034" rIns="118067" bIns="59034" rtlCol="0">
            <a:spAutoFit/>
          </a:bodyPr>
          <a:lstStyle/>
          <a:p>
            <a:r>
              <a:rPr lang="fr-FR" sz="4200" b="1" dirty="0" smtClean="0">
                <a:solidFill>
                  <a:srgbClr val="044389"/>
                </a:solidFill>
              </a:rPr>
              <a:t>Conclusion</a:t>
            </a:r>
            <a:endParaRPr lang="en-US" sz="4200" b="1" dirty="0">
              <a:solidFill>
                <a:srgbClr val="0443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61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Theme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rizonTheme" id="{5EB5F479-BFFF-477A-9620-96280CE7B3A3}" vid="{FBCA0AA8-5A59-4183-983A-CF543979D2F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horizontemplate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rizontemplate" id="{B519ADAE-BA0D-4EA8-B9CD-60B78BABF9F0}" vid="{AFDF93C9-9F2E-4EF4-8A15-1BB75CF460C9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s-8 8">
    <a:dk1>
      <a:srgbClr val="000000"/>
    </a:dk1>
    <a:lt1>
      <a:srgbClr val="FFFFFF"/>
    </a:lt1>
    <a:dk2>
      <a:srgbClr val="999900"/>
    </a:dk2>
    <a:lt2>
      <a:srgbClr val="666600"/>
    </a:lt2>
    <a:accent1>
      <a:srgbClr val="99CC00"/>
    </a:accent1>
    <a:accent2>
      <a:srgbClr val="CCCC66"/>
    </a:accent2>
    <a:accent3>
      <a:srgbClr val="FFFFFF"/>
    </a:accent3>
    <a:accent4>
      <a:srgbClr val="000000"/>
    </a:accent4>
    <a:accent5>
      <a:srgbClr val="CAE2AA"/>
    </a:accent5>
    <a:accent6>
      <a:srgbClr val="B9B95C"/>
    </a:accent6>
    <a:hlink>
      <a:srgbClr val="FFCC00"/>
    </a:hlink>
    <a:folHlink>
      <a:srgbClr val="CC99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HorizonTheme</Template>
  <TotalTime>4922</TotalTime>
  <Words>3297</Words>
  <Application>Microsoft Office PowerPoint</Application>
  <PresentationFormat>Personnalisé</PresentationFormat>
  <Paragraphs>994</Paragraphs>
  <Slides>57</Slides>
  <Notes>35</Notes>
  <HiddenSlides>6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57</vt:i4>
      </vt:variant>
    </vt:vector>
  </HeadingPairs>
  <TitlesOfParts>
    <vt:vector size="73" baseType="lpstr">
      <vt:lpstr>Arial</vt:lpstr>
      <vt:lpstr>Arimo</vt:lpstr>
      <vt:lpstr>Bahnschrift Condensed</vt:lpstr>
      <vt:lpstr>Calibri</vt:lpstr>
      <vt:lpstr>Courier New</vt:lpstr>
      <vt:lpstr>Helvetica Neue</vt:lpstr>
      <vt:lpstr>Microsoft Sans Serif</vt:lpstr>
      <vt:lpstr>Noto Sans</vt:lpstr>
      <vt:lpstr>Noto Sans Symbols</vt:lpstr>
      <vt:lpstr>Open Sans</vt:lpstr>
      <vt:lpstr>Times New Roman</vt:lpstr>
      <vt:lpstr>Verdana</vt:lpstr>
      <vt:lpstr>Wingdings</vt:lpstr>
      <vt:lpstr>HorizonTheme</vt:lpstr>
      <vt:lpstr>Thème Office</vt:lpstr>
      <vt:lpstr>1_horizontemplate</vt:lpstr>
      <vt:lpstr>   Course : HTML5  Teacher: Dr. Noura ABOUDI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: Web  Technologies Teacher: Dr. Noura ABOUDI  noura.aboudi@horizon-university.tn</dc:title>
  <dc:creator>jihed.hammami</dc:creator>
  <cp:lastModifiedBy>Mariem Khalfaoui</cp:lastModifiedBy>
  <cp:revision>571</cp:revision>
  <dcterms:created xsi:type="dcterms:W3CDTF">2025-09-02T08:04:26Z</dcterms:created>
  <dcterms:modified xsi:type="dcterms:W3CDTF">2025-11-26T21:40:33Z</dcterms:modified>
</cp:coreProperties>
</file>